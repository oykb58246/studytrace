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over_prev_image1.png"/><Relationship Id="rId3" Type="http://schemas.openxmlformats.org/officeDocument/2006/relationships/image" Target="../media/cover_prev_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over_prev_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over_prev_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D4E"/>
          </a:solidFill>
          <a:ln>
            <a:solidFill>
              <a:srgbClr val="041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4AB8"/>
          </a:solidFill>
          <a:ln>
            <a:solidFill>
              <a:srgbClr val="0A4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2834640" cy="685800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7406640" y="0"/>
            <a:ext cx="4846320" cy="3840480"/>
          </a:xfrm>
          <a:prstGeom prst="rtTriangle">
            <a:avLst/>
          </a:prstGeom>
          <a:solidFill>
            <a:srgbClr val="0D5DFF"/>
          </a:solidFill>
          <a:ln>
            <a:solidFill>
              <a:srgbClr val="0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5400000">
            <a:off x="8961120" y="1828800"/>
            <a:ext cx="4114800" cy="3566160"/>
          </a:xfrm>
          <a:prstGeom prst="triangle">
            <a:avLst/>
          </a:prstGeom>
          <a:solidFill>
            <a:srgbClr val="006DFF"/>
          </a:solidFill>
          <a:ln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0040"/>
            <a:ext cx="38404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 dirty="0" err="1">
                <a:solidFill>
                  <a:srgbClr val="C9DCFF"/>
                </a:solidFill>
                <a:latin typeface="Microsoft YaHei"/>
              </a:rPr>
              <a:t>大学生课程任务管理与</a:t>
            </a:r>
            <a:r>
              <a:rPr sz="1000" b="0" dirty="0">
                <a:solidFill>
                  <a:srgbClr val="C9DCFF"/>
                </a:solidFill>
                <a:latin typeface="Microsoft YaHei"/>
              </a:rPr>
              <a:t> AI </a:t>
            </a:r>
            <a:r>
              <a:rPr sz="1000" b="0" dirty="0" err="1">
                <a:solidFill>
                  <a:srgbClr val="C9DCFF"/>
                </a:solidFill>
                <a:latin typeface="Microsoft YaHei"/>
              </a:rPr>
              <a:t>学习助手</a:t>
            </a:r>
            <a:r>
              <a:rPr sz="1000" b="0" dirty="0">
                <a:solidFill>
                  <a:srgbClr val="C9DCFF"/>
                </a:solidFill>
                <a:latin typeface="Microsoft YaHei"/>
              </a:rPr>
              <a:t>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33271"/>
            <a:ext cx="5852160" cy="6858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800" b="1" dirty="0" err="1">
                <a:solidFill>
                  <a:srgbClr val="FFFFFF"/>
                </a:solidFill>
                <a:latin typeface="Microsoft YaHei"/>
              </a:rPr>
              <a:t>StudyTrace</a:t>
            </a:r>
            <a:r>
              <a:rPr sz="3800" b="1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Microsoft YaHei"/>
              </a:rPr>
              <a:t>学迹</a:t>
            </a:r>
            <a:endParaRPr sz="38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66760" y="1024128"/>
            <a:ext cx="2331720" cy="4754880"/>
          </a:xfrm>
          <a:prstGeom prst="roundRect">
            <a:avLst/>
          </a:prstGeom>
          <a:solidFill>
            <a:srgbClr val="061537"/>
          </a:solidFill>
          <a:ln w="1905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31352" y="1316736"/>
            <a:ext cx="2002536" cy="4178808"/>
          </a:xfrm>
          <a:prstGeom prst="round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089904"/>
            <a:ext cx="65836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6208776"/>
            <a:ext cx="59436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1">
                <a:solidFill>
                  <a:srgbClr val="083B88"/>
                </a:solidFill>
                <a:latin typeface="Microsoft YaHei"/>
              </a:rPr>
              <a:t>定位：真实学习过程数据化 · AI 辅助行动 · 长期复盘沉淀</a:t>
            </a:r>
          </a:p>
        </p:txBody>
      </p:sp>
      <p:pic>
        <p:nvPicPr>
          <p:cNvPr id="20" name="Picture 1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137" y="1316736"/>
            <a:ext cx="1930965" cy="4178808"/>
          </a:xfrm>
          <a:prstGeom prst="rect">
            <a:avLst/>
          </a:prstGeom>
        </p:spPr>
      </p:pic>
      <p:pic>
        <p:nvPicPr>
          <p:cNvPr id="21" name="Picture 20" descr="logo白透明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7" y="832102"/>
            <a:ext cx="858193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054D6"/>
          </a:solidFill>
          <a:ln>
            <a:solidFill>
              <a:srgbClr val="00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2194560" cy="6858000"/>
          </a:xfrm>
          <a:prstGeom prst="rect">
            <a:avLst/>
          </a:prstGeom>
          <a:solidFill>
            <a:srgbClr val="08379D"/>
          </a:solidFill>
          <a:ln>
            <a:solidFill>
              <a:srgbClr val="08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2194560" cy="6858000"/>
          </a:xfrm>
          <a:prstGeom prst="rect">
            <a:avLst/>
          </a:prstGeom>
          <a:solidFill>
            <a:srgbClr val="5E8FF2"/>
          </a:solidFill>
          <a:ln>
            <a:solidFill>
              <a:srgbClr val="5E8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0" y="0"/>
            <a:ext cx="2194560" cy="6858000"/>
          </a:xfrm>
          <a:prstGeom prst="rect">
            <a:avLst/>
          </a:prstGeom>
          <a:solidFill>
            <a:srgbClr val="266BEA"/>
          </a:solidFill>
          <a:ln>
            <a:solidFill>
              <a:srgbClr val="266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2194560" cy="6858000"/>
          </a:xfrm>
          <a:prstGeom prst="rect">
            <a:avLst/>
          </a:prstGeom>
          <a:solidFill>
            <a:srgbClr val="4D7FE6"/>
          </a:solidFill>
          <a:ln>
            <a:solidFill>
              <a:srgbClr val="4D7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880360"/>
            <a:ext cx="1645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337560"/>
            <a:ext cx="164592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02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ECEFF"/>
                </a:solidFill>
                <a:latin typeface="Microsoft YaHei"/>
              </a:rPr>
              <a:t>StudyTrace 初赛设计文档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30936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AECEFF"/>
                </a:solidFill>
                <a:latin typeface="Microsoft YaHei"/>
              </a:rPr>
              <a:t>STUDYTRACE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965960"/>
            <a:ext cx="11887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880360"/>
            <a:ext cx="1691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BACKGROUND &amp;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42900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3E4FF"/>
                </a:solidFill>
                <a:latin typeface="Microsoft YaHei"/>
              </a:rPr>
              <a:t>项目背景与定位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3977639"/>
            <a:ext cx="1737360" cy="18288"/>
          </a:xfrm>
          <a:prstGeom prst="rect">
            <a:avLst/>
          </a:prstGeom>
          <a:solidFill>
            <a:srgbClr val="CFE5FF"/>
          </a:solidFill>
          <a:ln>
            <a:solidFill>
              <a:srgbClr val="CF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4389120"/>
            <a:ext cx="17373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DCEBFF"/>
                </a:solidFill>
                <a:latin typeface="Microsoft YaHei"/>
              </a:rPr>
              <a:t>03 问题洞察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04 用户场景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05 产品定位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06 学习闭环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65960"/>
            <a:ext cx="11887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1691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PRODUCT &amp;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2900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3E4FF"/>
                </a:solidFill>
                <a:latin typeface="Microsoft YaHei"/>
              </a:rPr>
              <a:t>产品设计与原型展示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977639"/>
            <a:ext cx="1737360" cy="18288"/>
          </a:xfrm>
          <a:prstGeom prst="rect">
            <a:avLst/>
          </a:prstGeom>
          <a:solidFill>
            <a:srgbClr val="CFE5FF"/>
          </a:solidFill>
          <a:ln>
            <a:solidFill>
              <a:srgbClr val="CF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389120"/>
            <a:ext cx="17373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DCEBFF"/>
                </a:solidFill>
                <a:latin typeface="Microsoft YaHei"/>
              </a:rPr>
              <a:t>07 功能总览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08-14 应用内界面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15-16 演示流程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965960"/>
            <a:ext cx="11887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880360"/>
            <a:ext cx="1691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AI &amp; TECH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3E4FF"/>
                </a:solidFill>
                <a:latin typeface="Microsoft YaHei"/>
              </a:rPr>
              <a:t>AI 能力与技术实现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3977639"/>
            <a:ext cx="1737360" cy="18288"/>
          </a:xfrm>
          <a:prstGeom prst="rect">
            <a:avLst/>
          </a:prstGeom>
          <a:solidFill>
            <a:srgbClr val="CFE5FF"/>
          </a:solidFill>
          <a:ln>
            <a:solidFill>
              <a:srgbClr val="CF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389120"/>
            <a:ext cx="17373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DCEBFF"/>
                </a:solidFill>
                <a:latin typeface="Microsoft YaHei"/>
              </a:rPr>
              <a:t>17 前后端联动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18 大模型应用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完成度与可行性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965960"/>
            <a:ext cx="11887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880360"/>
            <a:ext cx="1691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VALUE &amp;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42900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3E4FF"/>
                </a:solidFill>
                <a:latin typeface="Microsoft YaHei"/>
              </a:rPr>
              <a:t>应用价值与团队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3977639"/>
            <a:ext cx="1737360" cy="18288"/>
          </a:xfrm>
          <a:prstGeom prst="rect">
            <a:avLst/>
          </a:prstGeom>
          <a:solidFill>
            <a:srgbClr val="CFE5FF"/>
          </a:solidFill>
          <a:ln>
            <a:solidFill>
              <a:srgbClr val="CF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389120"/>
            <a:ext cx="17373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DCEBFF"/>
                </a:solidFill>
                <a:latin typeface="Microsoft YaHei"/>
              </a:rPr>
              <a:t>19 竞品差异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20 团队分工</a:t>
            </a:r>
            <a:br/>
            <a:r>
              <a:rPr sz="950" b="0">
                <a:solidFill>
                  <a:srgbClr val="DCEBFF"/>
                </a:solidFill>
                <a:latin typeface="Microsoft YaHei"/>
              </a:rPr>
              <a:t>总结展望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项目背景与问题洞察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BACKGROUND &amp; USER PAINS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03/20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9144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B87"/>
                </a:solidFill>
                <a:latin typeface="Microsoft YaHei"/>
              </a:rPr>
              <a:t>大学生学习管理的真实痛点，不在于缺少单点工具，而在于缺少能持续记录、主动分析并辅助行动的系统。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10512"/>
            <a:ext cx="278892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2788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92807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1" y="1911095"/>
            <a:ext cx="21488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1D3B"/>
                </a:solidFill>
                <a:latin typeface="Microsoft YaHei"/>
              </a:rPr>
              <a:t>任务分散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86000"/>
            <a:ext cx="249631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作业、实验、竞赛任务散落在群公告、聊天、备忘录与不同平台中。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67912" y="1810512"/>
            <a:ext cx="278892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1783080"/>
            <a:ext cx="2788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1892807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1911095"/>
            <a:ext cx="21488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1D3B"/>
                </a:solidFill>
                <a:latin typeface="Microsoft YaHei"/>
              </a:rPr>
              <a:t>DDL 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2286000"/>
            <a:ext cx="249631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多门课程节奏不同，截止时间密集，学生很难持续保持风险感知。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8312" y="1810512"/>
            <a:ext cx="278892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1783080"/>
            <a:ext cx="2788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6" y="1892807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1911095"/>
            <a:ext cx="21488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1D3B"/>
                </a:solidFill>
                <a:latin typeface="Microsoft YaHei"/>
              </a:rPr>
              <a:t>记录断档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2286000"/>
            <a:ext cx="249631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学习过程常被打断，日志和反思无法长期沉淀。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3319271"/>
            <a:ext cx="278892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291839"/>
            <a:ext cx="2788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4015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1" y="3419856"/>
            <a:ext cx="21488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1D3B"/>
                </a:solidFill>
                <a:latin typeface="Microsoft YaHei"/>
              </a:rPr>
              <a:t>复盘成本高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794759"/>
            <a:ext cx="249631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周报与总结依赖人工整理，耗时且容易流于形式。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67912" y="3319271"/>
            <a:ext cx="278892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40480" y="3291839"/>
            <a:ext cx="2788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68496" y="34015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3419856"/>
            <a:ext cx="21488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1D3B"/>
                </a:solidFill>
                <a:latin typeface="Microsoft YaHei"/>
              </a:rPr>
              <a:t>AI 割裂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6784" y="3794759"/>
            <a:ext cx="249631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AI 工具停留在问答，缺少与任务执行、日志、日历的联动。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29200"/>
            <a:ext cx="9601200" cy="731520"/>
          </a:xfrm>
          <a:prstGeom prst="roundRect">
            <a:avLst/>
          </a:prstGeom>
          <a:solidFill>
            <a:srgbClr val="08379D"/>
          </a:solidFill>
          <a:ln>
            <a:solidFill>
              <a:srgbClr val="08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184648"/>
            <a:ext cx="11887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核心洞察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148072"/>
            <a:ext cx="8001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学生不缺“记录工具”，缺的是一个能长期记录真实过程、主动分析学习风险、并推动下一步行动的学习管理系统。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目标用户与典型场景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TARGET USERS &amp; DAILY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04/20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261872"/>
            <a:ext cx="2926080" cy="16002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2926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👩‍🎓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1" y="1362456"/>
            <a:ext cx="22860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课程学习型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737360"/>
            <a:ext cx="2633472" cy="1033271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本科生 / 多课程并行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作业、实验、报告截止频繁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需要清晰任务清单与提醒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5072" y="1261872"/>
            <a:ext cx="2926080" cy="16002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77639" y="1234440"/>
            <a:ext cx="2926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05655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362456"/>
            <a:ext cx="22860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备考冲刺型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4" y="1737360"/>
            <a:ext cx="2633472" cy="1033271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考研 / 考证 / 英语备考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每日学习记录与番茄钟专注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需要周复盘与计划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631" y="1261872"/>
            <a:ext cx="2926080" cy="16002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234440"/>
            <a:ext cx="2926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1362456"/>
            <a:ext cx="22860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项目竞赛型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1737360"/>
            <a:ext cx="2633472" cy="1033271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竞赛 / 项目制学习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复杂任务拆解与阶段交付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5B6B87"/>
                </a:solidFill>
                <a:latin typeface="Microsoft YaHei"/>
              </a:rPr>
              <a:t>需要风险提醒和材料沉淀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D3B"/>
                </a:solidFill>
                <a:latin typeface="Microsoft YaHei"/>
              </a:rPr>
              <a:t>一天中的高频使用流程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886200"/>
            <a:ext cx="173736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C1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05072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54D6"/>
                </a:solidFill>
                <a:latin typeface="Microsoft YaHei"/>
              </a:rPr>
              <a:t>早上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15968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7"/>
                </a:solidFill>
                <a:latin typeface="Microsoft YaHei"/>
              </a:rPr>
              <a:t>查看今日任务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416052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79" y="3886200"/>
            <a:ext cx="173736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C1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79" y="4005072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54D6"/>
                </a:solidFill>
                <a:latin typeface="Microsoft YaHei"/>
              </a:rPr>
              <a:t>课堂后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79" y="4315968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7"/>
                </a:solidFill>
                <a:latin typeface="Microsoft YaHei"/>
              </a:rPr>
              <a:t>记录学习内容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416052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3886200"/>
            <a:ext cx="173736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C1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4005072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54D6"/>
                </a:solidFill>
                <a:latin typeface="Microsoft YaHei"/>
              </a:rPr>
              <a:t>晚上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315968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7"/>
                </a:solidFill>
                <a:latin typeface="Microsoft YaHei"/>
              </a:rPr>
              <a:t>番茄钟执行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3488" y="416052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19" y="3886200"/>
            <a:ext cx="173736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C1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19" y="4005072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54D6"/>
                </a:solidFill>
                <a:latin typeface="Microsoft YaHei"/>
              </a:rPr>
              <a:t>周末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4315968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7"/>
                </a:solidFill>
                <a:latin typeface="Microsoft YaHei"/>
              </a:rPr>
              <a:t>AI 周报复盘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86400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B87"/>
                </a:solidFill>
                <a:latin typeface="Microsoft YaHei"/>
              </a:rPr>
              <a:t>用户需求关键词：低负担记录、明确下一步、可视化进展、AI 辅助复盘。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产品定位与作品简介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PRODUCT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05/20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114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054D6"/>
                </a:solidFill>
                <a:latin typeface="Microsoft YaHei"/>
              </a:rPr>
              <a:t>StudyTrace 学迹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21D3B"/>
                </a:solidFill>
                <a:latin typeface="Microsoft YaHei"/>
              </a:rPr>
              <a:t>面向大学生的学习任务管理、AI 学习助手与学习数据看板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715000" cy="11887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5B6B87"/>
                </a:solidFill>
                <a:latin typeface="Microsoft YaHei"/>
              </a:rPr>
              <a:t>• 围绕「记录 → 执行 → 分析 → 复盘」构建个人学习闭环。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5B6B87"/>
                </a:solidFill>
                <a:latin typeface="Microsoft YaHei"/>
              </a:rPr>
              <a:t>• 核心功能覆盖课程任务、学习日志、日历、番茄钟、知识闪卡、学习笔记、AI 周报、风险提醒。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5B6B87"/>
                </a:solidFill>
                <a:latin typeface="Microsoft YaHei"/>
              </a:rPr>
              <a:t>• 当前状态：离线优先 App 已可本地使用；云端同步、学习小组、排行榜 UI 已加入；自建 NestJS 后端骨架已搭建。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215802"/>
            <a:ext cx="2743200" cy="26890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3232" y="4416552"/>
            <a:ext cx="2743200" cy="10058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43891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4517136"/>
            <a:ext cx="24688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4901183"/>
            <a:ext cx="2450592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Flutter 3.x / NestJS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9352" y="4416552"/>
            <a:ext cx="2743200" cy="10058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3891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4517136"/>
            <a:ext cx="24688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AI 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4901183"/>
            <a:ext cx="2450592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蓝心为主 / DeepSeek 可选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5472" y="4416552"/>
            <a:ext cx="2743200" cy="10058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78040" y="43891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4344" y="4517136"/>
            <a:ext cx="24688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部署方向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344" y="4901183"/>
            <a:ext cx="2450592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Android · Windows · Web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核心设计理念：学习闭环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06/20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9039" y="1417320"/>
            <a:ext cx="2148840" cy="868680"/>
          </a:xfrm>
          <a:prstGeom prst="roundRect">
            <a:avLst/>
          </a:prstGeom>
          <a:solidFill>
            <a:srgbClr val="0054D6"/>
          </a:solidFill>
          <a:ln>
            <a:solidFill>
              <a:srgbClr val="00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79" y="1554480"/>
            <a:ext cx="1965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79" y="1920240"/>
            <a:ext cx="1965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Microsoft YaHei"/>
              </a:rPr>
              <a:t>真实学习过程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834640"/>
            <a:ext cx="2148840" cy="868680"/>
          </a:xfrm>
          <a:prstGeom prst="roundRect">
            <a:avLst/>
          </a:prstGeom>
          <a:solidFill>
            <a:srgbClr val="F49640"/>
          </a:solidFill>
          <a:ln>
            <a:solidFill>
              <a:srgbClr val="F4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2971800"/>
            <a:ext cx="1965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3337560"/>
            <a:ext cx="1965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Microsoft YaHei"/>
              </a:rPr>
              <a:t>任务与专注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4297680"/>
            <a:ext cx="2148840" cy="868680"/>
          </a:xfrm>
          <a:prstGeom prst="roundRect">
            <a:avLst/>
          </a:prstGeom>
          <a:solidFill>
            <a:srgbClr val="5C56E8"/>
          </a:solidFill>
          <a:ln>
            <a:solidFill>
              <a:srgbClr val="5C5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79" y="4434840"/>
            <a:ext cx="1965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4800600"/>
            <a:ext cx="1965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Microsoft YaHei"/>
              </a:rPr>
              <a:t>数据与风险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34640"/>
            <a:ext cx="2148840" cy="868680"/>
          </a:xfrm>
          <a:prstGeom prst="roundRect">
            <a:avLst/>
          </a:prstGeom>
          <a:solidFill>
            <a:srgbClr val="20AE84"/>
          </a:solidFill>
          <a:ln>
            <a:solidFill>
              <a:srgbClr val="20A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71800"/>
            <a:ext cx="1965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1965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Microsoft YaHei"/>
              </a:rPr>
              <a:t>周报与计划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92024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749039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54D6"/>
                </a:solidFill>
                <a:latin typeface="Microsoft YaHe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57200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54D6"/>
                </a:solidFill>
                <a:latin typeface="Microsoft YaHei"/>
              </a:rP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192024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54D6"/>
                </a:solidFill>
                <a:latin typeface="Microsoft YaHei"/>
              </a:rPr>
              <a:t>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1444752"/>
            <a:ext cx="2240280" cy="96012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18120" y="141732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46136" y="15270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1545336"/>
            <a:ext cx="1600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低负担记录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1920240"/>
            <a:ext cx="1947672" cy="3931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AI 与多模态输入降低记录成本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5552" y="2633472"/>
            <a:ext cx="2240280" cy="96012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18120" y="260604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7157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2734056"/>
            <a:ext cx="1600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智能复盘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3108960"/>
            <a:ext cx="1947672" cy="3931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分散数据生成结构化洞察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5552" y="3822192"/>
            <a:ext cx="2240280" cy="96012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18120" y="379476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90448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3922776"/>
            <a:ext cx="1600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本地优先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64424" y="4297680"/>
            <a:ext cx="1947672" cy="3931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轻量存储与隐私友好体验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15000"/>
            <a:ext cx="93268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21D3B"/>
                </a:solidFill>
                <a:latin typeface="Microsoft YaHei"/>
              </a:rPr>
              <a:t>设计重点：先记录真实学习过程，再由 AI 生成结构化洞察，最终推动下一步行动。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产品功能总览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FUNCTION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07/20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307592"/>
            <a:ext cx="2834640" cy="16002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2834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08176"/>
            <a:ext cx="25603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学习闭环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92224"/>
            <a:ext cx="2542032" cy="1033271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任务管理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学习日志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学习日历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课程归档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192" y="1307592"/>
            <a:ext cx="2834640" cy="16002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1280160"/>
            <a:ext cx="2834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41064" y="1408176"/>
            <a:ext cx="25603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执行与看板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4" y="1792224"/>
            <a:ext cx="2542032" cy="1033271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番茄钟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截止提醒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完成率统计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学习数据看板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76872" y="1307592"/>
            <a:ext cx="2834640" cy="16002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1280160"/>
            <a:ext cx="2834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1408176"/>
            <a:ext cx="25603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AI 辅助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1792224"/>
            <a:ext cx="2542032" cy="1033271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生成日志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任务拆解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周报分析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风险提醒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知识闪卡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273551"/>
            <a:ext cx="2834640" cy="16002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2834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374136"/>
            <a:ext cx="25603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新版本能力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758183"/>
            <a:ext cx="2542032" cy="1033271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云端同步 UI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学习小组 UI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排行榜 UI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后端骨架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22192" y="3273551"/>
            <a:ext cx="2834640" cy="16002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94760" y="3246120"/>
            <a:ext cx="2834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41064" y="3374136"/>
            <a:ext cx="25603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个性化与设置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1064" y="3758183"/>
            <a:ext cx="2542032" cy="1033271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深色模式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主题皮肤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AI 设置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5B6B87"/>
                </a:solidFill>
                <a:latin typeface="Microsoft YaHei"/>
              </a:rPr>
              <a:t>系统设置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15000"/>
            <a:ext cx="923544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B6B87"/>
                </a:solidFill>
                <a:latin typeface="Microsoft YaHei"/>
              </a:rPr>
              <a:t>模块关系：任务 / 日志 / 日历 / 看板共享学习数据底座，AI 能力在关键节点生成、拆解、分析与提醒。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应用内界面：首页与数据看板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IN-APP SCREENS · HOME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08/20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286" y="1234440"/>
            <a:ext cx="2281666" cy="4937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703320" y="1234440"/>
            <a:ext cx="2743200" cy="493776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347472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59" y="3749040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学习数据看板截图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总记录 / 总任务 / 完成率 / 趋势图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1261872"/>
            <a:ext cx="3291840" cy="13716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0840" y="123444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8855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1362456"/>
            <a:ext cx="26517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首页即学习状态中枢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1737360"/>
            <a:ext cx="2999232" cy="8046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今日学习状态、连续打卡、任务进度、最近学习记录、AI/周报入口集中呈现。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2816351"/>
            <a:ext cx="3291840" cy="13716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20840" y="278892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8855" y="28986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916936"/>
            <a:ext cx="26517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数据看板集中分析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3291839"/>
            <a:ext cx="2999232" cy="8046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整合课程分布、近 7 天柱状图、近 4 周趋势、子任务进度和 AI 周报。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48272" y="4370832"/>
            <a:ext cx="3291840" cy="13716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434340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5" y="44531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4471416"/>
            <a:ext cx="26517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展示建议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4846320"/>
            <a:ext cx="2999232" cy="8046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若后续补截图：优先截首页完整状态和数据看板核心图表区域。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应用内界面：任务管理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IN-APP SCREENS · TASK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09/20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00" y="1234440"/>
            <a:ext cx="2323919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7639" y="1234440"/>
            <a:ext cx="5852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D3B"/>
                </a:solidFill>
                <a:latin typeface="Microsoft YaHei"/>
              </a:rPr>
              <a:t>任务管理不是普通待办清单，而是围绕课程学习目标沉淀任务、子任务和截止风险。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5072" y="2130551"/>
            <a:ext cx="260604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21031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5" y="22128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31136"/>
            <a:ext cx="1965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任务创建/编辑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2606039"/>
            <a:ext cx="231343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支持课程、类型、截止时间、提醒时间等信息。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2130551"/>
            <a:ext cx="260604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21031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22128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2231136"/>
            <a:ext cx="1965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子任务拆解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2606039"/>
            <a:ext cx="231343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复杂任务拆成可执行清单，支持点击切换状态。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3730752"/>
            <a:ext cx="260604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7639" y="37033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05655" y="38130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831335"/>
            <a:ext cx="1965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搜索与筛选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4206240"/>
            <a:ext cx="231343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按状态、类型、课程查找任务，提升手机端效率。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31152" y="3730752"/>
            <a:ext cx="260604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03720" y="37033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1736" y="38130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1" y="3831335"/>
            <a:ext cx="1965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风险优先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4206240"/>
            <a:ext cx="231343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未完成任务与临近截止任务优先展示。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532120"/>
            <a:ext cx="56692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B87"/>
                </a:solidFill>
                <a:latin typeface="Microsoft YaHei"/>
              </a:rPr>
              <a:t>截图补充建议：可增加“创建任务弹窗 / AI 拆解任务导入”截图，增强完成度证明。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应用内界面：学习日志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IN-APP SCREENS · STUDY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10/20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00" y="1234440"/>
            <a:ext cx="2323919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7639" y="1234440"/>
            <a:ext cx="5852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D3B"/>
                </a:solidFill>
                <a:latin typeface="Microsoft YaHei"/>
              </a:rPr>
              <a:t>日志让学习过程被记录下来：内容、问题、思考与下一步计划都能按课程沉淀。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5072" y="2084831"/>
            <a:ext cx="27432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205740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5" y="21671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8541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按课程沉淀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2560320"/>
            <a:ext cx="2450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学习记录归入课程归档，形成长期轨迹。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2084831"/>
            <a:ext cx="27432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205740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21671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218541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结构化记录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2560320"/>
            <a:ext cx="2450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内容 / 问题 / 思考 / 下一步计划分层呈现。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3547872"/>
            <a:ext cx="27432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7639" y="352044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05655" y="3630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64845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AI 生成日志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4023360"/>
            <a:ext cx="2450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自然语言或番茄钟结束后生成结构化日志。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31152" y="3547872"/>
            <a:ext cx="27432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03720" y="352044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1736" y="3630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1" y="364845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可搜索筛选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4023360"/>
            <a:ext cx="2450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支持课程分类和关键词检索，便于复盘。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532120"/>
            <a:ext cx="56692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B87"/>
                </a:solidFill>
                <a:latin typeface="Microsoft YaHei"/>
              </a:rPr>
              <a:t>展示重点：这页强调“过程数据化”，是区别于普通 Todo 的核心证据。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应用内界面：学习日历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IN-APP SCREENS ·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11/20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00" y="1234440"/>
            <a:ext cx="2323919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7639" y="1234440"/>
            <a:ext cx="5852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D3B"/>
                </a:solidFill>
                <a:latin typeface="Microsoft YaHei"/>
              </a:rPr>
              <a:t>日历将学习记录和截止任务放到同一个时间视图中，让学生看见自己的学习轨迹。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5072" y="2130551"/>
            <a:ext cx="260604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21031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5" y="22128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31136"/>
            <a:ext cx="1965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月视图标记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2606039"/>
            <a:ext cx="231343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标记每日学习记录与截止任务。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2130551"/>
            <a:ext cx="260604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21031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22128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2231136"/>
            <a:ext cx="1965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当天详情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2606039"/>
            <a:ext cx="231343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点击日期查看当天任务与日志。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3730752"/>
            <a:ext cx="260604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7639" y="37033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05655" y="38130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831335"/>
            <a:ext cx="1965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默认今日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4206240"/>
            <a:ext cx="231343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进入后默认展示当天学习信息。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31152" y="3730752"/>
            <a:ext cx="2606040" cy="12344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03720" y="37033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1736" y="38130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1" y="3831335"/>
            <a:ext cx="1965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长期轨迹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4206240"/>
            <a:ext cx="2313432" cy="6675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>
                <a:solidFill>
                  <a:srgbClr val="5B6B87"/>
                </a:solidFill>
                <a:latin typeface="Microsoft YaHei"/>
              </a:rPr>
              <a:t>为周报、趋势和复盘提供数据基础。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532120"/>
            <a:ext cx="56692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B87"/>
                </a:solidFill>
                <a:latin typeface="Microsoft YaHei"/>
              </a:rPr>
              <a:t>截图补充建议：后续可补“某一天详情弹窗/底部信息区”截图。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应用内界面：AI 学习助手与对话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IN-APP SCREENS · AI ASSISTANT &amp;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12/20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2286000" cy="438912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429000"/>
            <a:ext cx="21031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AI 学习助手截图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生成日志 / 拆解任务 / 周报 / 风险提醒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188720"/>
            <a:ext cx="2286000" cy="438912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315468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1031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AI 流式对话截图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Markdown / 历史会话 / 深度思考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188720"/>
            <a:ext cx="2286000" cy="438912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315468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429000"/>
            <a:ext cx="21031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AI 设置截图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蓝心模型 / DeepSeek 自定义接入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444752"/>
            <a:ext cx="1828800" cy="109728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52704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545336"/>
            <a:ext cx="11887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蓝心为主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1920240"/>
            <a:ext cx="1536192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核心 AI 能力来自蓝心大模型。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2770632"/>
            <a:ext cx="1828800" cy="109728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274320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28529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2871216"/>
            <a:ext cx="11887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可选接入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3246120"/>
            <a:ext cx="1536192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DeepSeek 作为用户自定义 API。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4096512"/>
            <a:ext cx="1828800" cy="109728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75320" y="406908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417880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4197096"/>
            <a:ext cx="11887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流程嵌入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4572000"/>
            <a:ext cx="1536192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AI 不止聊天，而是参与任务、日志与复盘。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97880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B87"/>
                </a:solidFill>
                <a:latin typeface="Microsoft YaHei"/>
              </a:rPr>
              <a:t>后续补图优先级：AI 学习助手首页 &gt; AI 对话 &gt; AI 设置。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应用内界面：知识闪卡与学习笔记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IN-APP SCREENS · FLASHCARDS &amp;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13/20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926080" cy="452628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68980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4330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知识闪卡截图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横向滑动 / 层叠小卡 / 翻转 / 收藏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234440"/>
            <a:ext cx="2926080" cy="452628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3268980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54330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学习笔记截图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Notion 风格块 / 标题 / 列表 / 待办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9752" y="1490472"/>
            <a:ext cx="27432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146304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6" y="15727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159105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知识转化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1965960"/>
            <a:ext cx="2450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从学习记录自动生成问答卡片，帮助学生做主动回忆。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9752" y="2907791"/>
            <a:ext cx="27432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288036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299008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300837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轻量笔记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3383280"/>
            <a:ext cx="2450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AI 生成笔记可转为结构化块，便于整理与复盘。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9752" y="4325112"/>
            <a:ext cx="27432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0" y="429768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440740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442569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完成度证明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4" y="4800600"/>
            <a:ext cx="2450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>
                <a:solidFill>
                  <a:srgbClr val="5B6B87"/>
                </a:solidFill>
                <a:latin typeface="Microsoft YaHei"/>
              </a:rPr>
              <a:t>这些界面能说明项目不是概念稿，而是已有较多应用模块。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新版本原型：同步、小组与排行榜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NEW PROTOTYPES · CLOUD &amp;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14/20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743200" cy="329184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云端同步 UI 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同步入口、同步状态、多端数据同步相关操作。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782312"/>
            <a:ext cx="2743200" cy="96012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75488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486460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488289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云端同步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5257800"/>
            <a:ext cx="2450592" cy="3931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同步入口、同步状态、多端数据同步相关操作。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1234440"/>
            <a:ext cx="2743200" cy="329184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65176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2926080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学习小组 UI 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邀请制小组、成员、动态等多人学习场景。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59352" y="4782312"/>
            <a:ext cx="2743200" cy="96012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31920" y="475488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9935" y="486460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88289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学习小组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8224" y="5257800"/>
            <a:ext cx="2450592" cy="3931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邀请制小组、成员、动态等多人学习场景。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1234440"/>
            <a:ext cx="2743200" cy="329184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65176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2926080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排行榜 UI 截图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个人榜、小组周榜/月榜、学习积分排行入口。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5472" y="4782312"/>
            <a:ext cx="2743200" cy="96012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78040" y="475488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6055" y="486460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4882896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排行榜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5257800"/>
            <a:ext cx="2450592" cy="3931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个人榜、小组周榜/月榜、学习积分排行入口。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989320"/>
            <a:ext cx="93268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B87"/>
                </a:solidFill>
                <a:latin typeface="Microsoft YaHei"/>
              </a:rPr>
              <a:t>说明：当前 UI 已加入，后端骨架已搭建；下一步与真实账号、同步、小组动态和排行数据联调打通。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典型演示流程：学习闭环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DEMO FLOW · 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15/20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42" y="1188720"/>
            <a:ext cx="887314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5920" y="150876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1 创建课程任务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93392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87"/>
                </a:solidFill>
                <a:latin typeface="Microsoft YaHei"/>
              </a:rPr>
              <a:t>课程任务进入列表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188720"/>
            <a:ext cx="1051560" cy="192024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920240"/>
            <a:ext cx="10515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待补图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94560"/>
            <a:ext cx="8686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2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番茄钟学习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0876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2 番茄钟学习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993392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87"/>
                </a:solidFill>
                <a:latin typeface="Microsoft YaHei"/>
              </a:rPr>
              <a:t>专注计时记录过程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01168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pic>
        <p:nvPicPr>
          <p:cNvPr id="17" name="Picture 1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62" y="1188720"/>
            <a:ext cx="887314" cy="1920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21040" y="150876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3 AI 生成日志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93392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87"/>
                </a:solidFill>
                <a:latin typeface="Microsoft YaHei"/>
              </a:rPr>
              <a:t>学习内容结构化沉淀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24612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54D6"/>
                </a:solidFill>
                <a:latin typeface="Microsoft YaHei"/>
              </a:rPr>
              <a:t>↓</a:t>
            </a:r>
          </a:p>
        </p:txBody>
      </p:sp>
      <p:pic>
        <p:nvPicPr>
          <p:cNvPr id="21" name="Picture 20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42" y="3520439"/>
            <a:ext cx="887314" cy="1920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45920" y="3840479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4 日历沉淀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325112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87"/>
                </a:solidFill>
                <a:latin typeface="Microsoft YaHei"/>
              </a:rPr>
              <a:t>轨迹进入时间视图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34340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3520439"/>
            <a:ext cx="1051560" cy="192024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4251959"/>
            <a:ext cx="10515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待补图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526279"/>
            <a:ext cx="8686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5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数据看板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840479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5 数据看板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325112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87"/>
                </a:solidFill>
                <a:latin typeface="Microsoft YaHei"/>
              </a:rPr>
              <a:t>趋势与完成率可视化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34340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3520439"/>
            <a:ext cx="1051560" cy="192024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4251959"/>
            <a:ext cx="10515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待补图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4526279"/>
            <a:ext cx="8686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6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AI</a:t>
            </a:r>
            <a:br/>
            <a:r>
              <a:rPr sz="950" b="0">
                <a:solidFill>
                  <a:srgbClr val="5B6B87"/>
                </a:solidFill>
                <a:latin typeface="Microsoft YaHei"/>
              </a:rPr>
              <a:t>周报与风险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40479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6 AI 周报与风险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325112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B87"/>
                </a:solidFill>
                <a:latin typeface="Microsoft YaHei"/>
              </a:rPr>
              <a:t>形成下周行动建议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989320"/>
            <a:ext cx="93268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121D3B"/>
                </a:solidFill>
                <a:latin typeface="Microsoft YaHei"/>
              </a:rPr>
              <a:t>展示逻辑：让评委看到 StudyTrace 的核心不是单个功能，而是从记录到复盘的完整学习流程。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典型演示流程：AI 辅助与任务拆解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DEMO FLOW · AI-ASSISTED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16/20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261872"/>
            <a:ext cx="210312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362456"/>
            <a:ext cx="14630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输入复杂任务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737360"/>
            <a:ext cx="1810511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自然语言描述课程作业、实验、竞赛目标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4592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36391" y="1261872"/>
            <a:ext cx="210312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362456"/>
            <a:ext cx="14630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AI 拆解子任务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5264" y="1737360"/>
            <a:ext cx="1810511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输出可执行子任务清单，并支持一键导入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64592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9552" y="1261872"/>
            <a:ext cx="210312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3212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013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1362456"/>
            <a:ext cx="14630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执行与记录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1737360"/>
            <a:ext cx="1810511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结合番茄钟、日志和日历沉淀过程数据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64592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82711" y="1261872"/>
            <a:ext cx="210312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79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1362456"/>
            <a:ext cx="146303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21D3B"/>
                </a:solidFill>
                <a:latin typeface="Microsoft YaHei"/>
              </a:rPr>
              <a:t>复盘与建议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1737360"/>
            <a:ext cx="1810511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周报分析完成率、风险、问题与下周计划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063240"/>
            <a:ext cx="2651760" cy="246888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69080"/>
            <a:ext cx="2651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343400"/>
            <a:ext cx="246887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AI 任务拆解截图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3063240"/>
            <a:ext cx="2651760" cy="246888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80" y="4069080"/>
            <a:ext cx="2651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343400"/>
            <a:ext cx="246887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任务导入后列表截图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3063240"/>
            <a:ext cx="2651760" cy="2468880"/>
          </a:xfrm>
          <a:prstGeom prst="roundRect">
            <a:avLst/>
          </a:prstGeom>
          <a:solidFill>
            <a:srgbClr val="F1F7FF"/>
          </a:solidFill>
          <a:ln>
            <a:solidFill>
              <a:srgbClr val="9ABC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069080"/>
            <a:ext cx="2651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54D6"/>
                </a:solidFill>
                <a:latin typeface="Microsoft YaHei"/>
              </a:rPr>
              <a:t>截图待补充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343400"/>
            <a:ext cx="246887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7"/>
                </a:solidFill>
                <a:latin typeface="Microsoft YaHei"/>
              </a:rPr>
              <a:t>AI 周报/风险提醒截图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52160"/>
            <a:ext cx="93268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B87"/>
                </a:solidFill>
                <a:latin typeface="Microsoft YaHei"/>
              </a:rPr>
              <a:t>AI 表达口径：以蓝心大模型为核心能力，DeepSeek 作为用户可选的自定义 API 接入；不要表述为“双 AI 引擎”。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技术实现与前后端联动设计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TECH STACK &amp; FRONT-BACKEND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17/20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4206240" cy="1234440"/>
          </a:xfrm>
          <a:prstGeom prst="roundRect">
            <a:avLst/>
          </a:prstGeom>
          <a:solidFill>
            <a:srgbClr val="E8F2FF"/>
          </a:solidFill>
          <a:ln>
            <a:solidFill>
              <a:srgbClr val="00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374903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54D6"/>
                </a:solidFill>
                <a:latin typeface="Microsoft YaHei"/>
              </a:rPr>
              <a:t>Flutter App 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3749039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B87"/>
                </a:solidFill>
                <a:latin typeface="Microsoft YaHei"/>
              </a:rPr>
              <a:t>Flutter 3.x / Material Design 3 / Android · Windows · Web</a:t>
            </a:r>
            <a:br/>
            <a:r>
              <a:rPr sz="1050" b="0">
                <a:solidFill>
                  <a:srgbClr val="5B6B87"/>
                </a:solidFill>
                <a:latin typeface="Microsoft YaHei"/>
              </a:rPr>
              <a:t>MVVM / ChangeNotifier / 侧边栏导航 / 深色模式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234440"/>
            <a:ext cx="4206240" cy="1234440"/>
          </a:xfrm>
          <a:prstGeom prst="roundRect">
            <a:avLst/>
          </a:prstGeom>
          <a:solidFill>
            <a:srgbClr val="E8F2FF"/>
          </a:solidFill>
          <a:ln>
            <a:solidFill>
              <a:srgbClr val="5C5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417320"/>
            <a:ext cx="374903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C56E8"/>
                </a:solidFill>
                <a:latin typeface="Microsoft YaHei"/>
              </a:rPr>
              <a:t>本地离线优先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801368"/>
            <a:ext cx="3749039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B87"/>
                </a:solidFill>
                <a:latin typeface="Microsoft YaHei"/>
              </a:rPr>
              <a:t>SharedPreferences 本地 JSON</a:t>
            </a:r>
            <a:br/>
            <a:r>
              <a:rPr sz="1050" b="0">
                <a:solidFill>
                  <a:srgbClr val="5B6B87"/>
                </a:solidFill>
                <a:latin typeface="Microsoft YaHei"/>
              </a:rPr>
              <a:t>flutter_secure_storage 保存凭据与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40"/>
            <a:ext cx="4206240" cy="1234440"/>
          </a:xfrm>
          <a:prstGeom prst="roundRect">
            <a:avLst/>
          </a:prstGeom>
          <a:solidFill>
            <a:srgbClr val="E8F2FF"/>
          </a:solidFill>
          <a:ln>
            <a:solidFill>
              <a:srgbClr val="20A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374903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0AE84"/>
                </a:solidFill>
                <a:latin typeface="Microsoft YaHei"/>
              </a:rPr>
              <a:t>AI 能力层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30168"/>
            <a:ext cx="3749039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B87"/>
                </a:solidFill>
                <a:latin typeface="Microsoft YaHei"/>
              </a:rPr>
              <a:t>蓝心 Chat / Vision / OCR 为主</a:t>
            </a:r>
            <a:br/>
            <a:r>
              <a:rPr sz="1050" b="0">
                <a:solidFill>
                  <a:srgbClr val="5B6B87"/>
                </a:solidFill>
                <a:latin typeface="Microsoft YaHei"/>
              </a:rPr>
              <a:t>DeepSeek 可选自定义接入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3063240"/>
            <a:ext cx="4206240" cy="1234440"/>
          </a:xfrm>
          <a:prstGeom prst="roundRect">
            <a:avLst/>
          </a:prstGeom>
          <a:solidFill>
            <a:srgbClr val="FFF4E8"/>
          </a:solidFill>
          <a:ln>
            <a:solidFill>
              <a:srgbClr val="F4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3246120"/>
            <a:ext cx="374903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49640"/>
                </a:solidFill>
                <a:latin typeface="Microsoft YaHei"/>
              </a:rPr>
              <a:t>NestJS 后端骨架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630168"/>
            <a:ext cx="3749039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B87"/>
                </a:solidFill>
                <a:latin typeface="Microsoft YaHei"/>
              </a:rPr>
              <a:t>Node/NestJS + PostgreSQL + Prisma + JWT + Docker</a:t>
            </a:r>
            <a:br/>
            <a:r>
              <a:rPr sz="1050" b="0">
                <a:solidFill>
                  <a:srgbClr val="5B6B87"/>
                </a:solidFill>
                <a:latin typeface="Microsoft YaHei"/>
              </a:rPr>
              <a:t>认证 / 同步 / AI 代理 / 小组 / 排行榜 / 备份导出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97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D3B"/>
                </a:solidFill>
                <a:latin typeface="Microsoft YaHei"/>
              </a:rPr>
              <a:t>联动路径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7492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1D3B"/>
                </a:solidFill>
                <a:latin typeface="Microsoft YaHei"/>
              </a:rPr>
              <a:t>本地记录 → 同步接口 /sync/push &amp; /sync/pull → 多端数据一致 → 小组动态与排行榜 → AI 请求后端代理，隐藏客户端模型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9235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B87"/>
                </a:solidFill>
                <a:latin typeface="Microsoft YaHei"/>
              </a:rPr>
              <a:t>当前状态：前端离线闭环可用，云端同步 / 小组 / 排行榜 UI 已加入，后端能力已搭建，下一步真实接口联调。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创新点与大模型应用能力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INNOVATION &amp; LARGE MODEL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18/20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261872"/>
            <a:ext cx="43434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4343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362456"/>
            <a:ext cx="37033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学习过程数据化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737360"/>
            <a:ext cx="4050791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19">
                <a:solidFill>
                  <a:srgbClr val="5B6B87"/>
                </a:solidFill>
                <a:latin typeface="Microsoft YaHei"/>
              </a:rPr>
              <a:t>从任务、日志、番茄钟、日历到看板，记录真实过程而非只做待办。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13832" y="1261872"/>
            <a:ext cx="43434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1234440"/>
            <a:ext cx="4343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1441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1362456"/>
            <a:ext cx="37033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AI 深度嵌入流程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4" y="1737360"/>
            <a:ext cx="4050791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19">
                <a:solidFill>
                  <a:srgbClr val="5B6B87"/>
                </a:solidFill>
                <a:latin typeface="Microsoft YaHei"/>
              </a:rPr>
              <a:t>生成日志、拆解任务、分析周报、风险提醒、知识闪卡贯穿学习闭环。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2770632"/>
            <a:ext cx="43434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743200"/>
            <a:ext cx="4343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28529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871216"/>
            <a:ext cx="37033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多模态低负担输入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246120"/>
            <a:ext cx="4050791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19">
                <a:solidFill>
                  <a:srgbClr val="5B6B87"/>
                </a:solidFill>
                <a:latin typeface="Microsoft YaHei"/>
              </a:rPr>
              <a:t>图片理解、OCR、语音输入降低记录成本，适配手机端学习场景。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13832" y="2770632"/>
            <a:ext cx="43434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0" y="2743200"/>
            <a:ext cx="4343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4416" y="28529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2871216"/>
            <a:ext cx="37033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离线优先 + 后端演进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2704" y="3246120"/>
            <a:ext cx="4050791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19">
                <a:solidFill>
                  <a:srgbClr val="5B6B87"/>
                </a:solidFill>
                <a:latin typeface="Microsoft YaHei"/>
              </a:rPr>
              <a:t>本地可用保证轻量，后端骨架为账号、同步、AI 代理和小组能力预留上线路径。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8056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D3B"/>
                </a:solidFill>
                <a:latin typeface="Microsoft YaHei"/>
              </a:rPr>
              <a:t>AI 处理机制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983480"/>
            <a:ext cx="1874519" cy="685800"/>
          </a:xfrm>
          <a:prstGeom prst="roundRect">
            <a:avLst/>
          </a:prstGeom>
          <a:solidFill>
            <a:srgbClr val="0054D6"/>
          </a:solidFill>
          <a:ln>
            <a:solidFill>
              <a:srgbClr val="005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874519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学习输入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5166360"/>
            <a:ext cx="274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4679" y="4983480"/>
            <a:ext cx="1874519" cy="685800"/>
          </a:xfrm>
          <a:prstGeom prst="roundRect">
            <a:avLst/>
          </a:prstGeom>
          <a:solidFill>
            <a:srgbClr val="5C56E8"/>
          </a:solidFill>
          <a:ln>
            <a:solidFill>
              <a:srgbClr val="5C5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79" y="5166360"/>
            <a:ext cx="1874519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结构化 Prompt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5166360"/>
            <a:ext cx="274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4983480"/>
            <a:ext cx="1874519" cy="685800"/>
          </a:xfrm>
          <a:prstGeom prst="roundRect">
            <a:avLst/>
          </a:prstGeom>
          <a:solidFill>
            <a:srgbClr val="20AE84"/>
          </a:solidFill>
          <a:ln>
            <a:solidFill>
              <a:srgbClr val="20A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5166360"/>
            <a:ext cx="1874519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模型生成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4071" y="5166360"/>
            <a:ext cx="274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54D6"/>
                </a:solidFill>
                <a:latin typeface="Microsoft YaHe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19" y="4983480"/>
            <a:ext cx="1874519" cy="685800"/>
          </a:xfrm>
          <a:prstGeom prst="roundRect">
            <a:avLst/>
          </a:prstGeom>
          <a:solidFill>
            <a:srgbClr val="F49640"/>
          </a:solidFill>
          <a:ln>
            <a:solidFill>
              <a:srgbClr val="F4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19" y="5166360"/>
            <a:ext cx="1874519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结果入库/回写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97880"/>
            <a:ext cx="9144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5B6B87"/>
                </a:solidFill>
                <a:latin typeface="Microsoft YaHei"/>
              </a:rPr>
              <a:t>示例：自然语言 / 图片 / OCR / 语音 → 结构化学习日志、任务计划、周报分析、风险提醒、知识闪卡。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应用价值与竞品差异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VALUE &amp;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19/20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170432"/>
            <a:ext cx="29718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2527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👩‍🎓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1" y="1271016"/>
            <a:ext cx="23317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对学生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645920"/>
            <a:ext cx="26791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降低任务遗忘 / 提升学习连续性 / 帮助复盘计划 / 让进步被看见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472" y="1170432"/>
            <a:ext cx="29718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11430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5" y="12527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271016"/>
            <a:ext cx="23317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对高校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5344" y="1645920"/>
            <a:ext cx="26791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服务课程项目制学习、竞赛训练、导师制学习和学习过程管理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5432" y="1170432"/>
            <a:ext cx="2971800" cy="114300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11430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125272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1271016"/>
            <a:ext cx="23317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后续拓展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1645920"/>
            <a:ext cx="26791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>
                <a:solidFill>
                  <a:srgbClr val="5B6B87"/>
                </a:solidFill>
                <a:latin typeface="Microsoft YaHei"/>
              </a:rPr>
              <a:t>云端同步 / 学习小组 / 排行榜 / 多设备同步 / 导出报告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2743200"/>
          <a:ext cx="8869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234440"/>
                <a:gridCol w="1234440"/>
                <a:gridCol w="1417320"/>
                <a:gridCol w="1234440"/>
                <a:gridCol w="150876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对比维度</a:t>
                      </a:r>
                    </a:p>
                  </a:txBody>
                  <a:tcPr marL="27432" marR="27432" marT="18288" marB="18288" anchor="ctr">
                    <a:solidFill>
                      <a:srgbClr val="0837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普通 Todo</a:t>
                      </a:r>
                    </a:p>
                  </a:txBody>
                  <a:tcPr marL="27432" marR="27432" marT="18288" marB="18288" anchor="ctr">
                    <a:solidFill>
                      <a:srgbClr val="0837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笔记 App</a:t>
                      </a:r>
                    </a:p>
                  </a:txBody>
                  <a:tcPr marL="27432" marR="27432" marT="18288" marB="18288" anchor="ctr">
                    <a:solidFill>
                      <a:srgbClr val="0837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AI 聊天工具</a:t>
                      </a:r>
                    </a:p>
                  </a:txBody>
                  <a:tcPr marL="27432" marR="27432" marT="18288" marB="18288" anchor="ctr">
                    <a:solidFill>
                      <a:srgbClr val="0837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学习打卡</a:t>
                      </a:r>
                    </a:p>
                  </a:txBody>
                  <a:tcPr marL="27432" marR="27432" marT="18288" marB="18288" anchor="ctr">
                    <a:solidFill>
                      <a:srgbClr val="0837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StudyTrace</a:t>
                      </a:r>
                    </a:p>
                  </a:txBody>
                  <a:tcPr marL="27432" marR="27432" marT="18288" marB="18288" anchor="ctr">
                    <a:solidFill>
                      <a:srgbClr val="08379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21D3B"/>
                          </a:solidFill>
                          <a:latin typeface="Microsoft YaHei"/>
                        </a:rPr>
                        <a:t>课程学习聚焦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054D6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E8F2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21D3B"/>
                          </a:solidFill>
                          <a:latin typeface="Microsoft YaHei"/>
                        </a:rPr>
                        <a:t>任务/日志/日历/周报一体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054D6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E8F2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21D3B"/>
                          </a:solidFill>
                          <a:latin typeface="Microsoft YaHei"/>
                        </a:rPr>
                        <a:t>AI 贯穿学习流程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054D6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E8F2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21D3B"/>
                          </a:solidFill>
                          <a:latin typeface="Microsoft YaHei"/>
                        </a:rPr>
                        <a:t>多模态输入与日志生成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054D6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E8F2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21D3B"/>
                          </a:solidFill>
                          <a:latin typeface="Microsoft YaHei"/>
                        </a:rPr>
                        <a:t>前后端演进路径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21D3B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054D6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E8F2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31520" y="5715000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121D3B"/>
                </a:solidFill>
                <a:latin typeface="Microsoft YaHei"/>
              </a:rPr>
              <a:t>结论：StudyTrace 的差异不是“单点功能”，而是面向大学生课程学习的完整闭环与已具备的产品完成度。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54D6"/>
                </a:solidFill>
                <a:latin typeface="Microsoft YaHe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"/>
            <a:ext cx="5303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D3B"/>
                </a:solidFill>
                <a:latin typeface="Microsoft YaHei"/>
              </a:rPr>
              <a:t>团队分工与总结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5B6B87"/>
                </a:solidFill>
                <a:latin typeface="Microsoft YaHei"/>
              </a:rPr>
              <a:t>TEAM &amp; FINAL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B6B87"/>
                </a:solidFill>
                <a:latin typeface="Microsoft YaHei"/>
              </a:rPr>
              <a:t>StudyTrace 学迹 · 20/20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9464040" cy="13716"/>
          </a:xfrm>
          <a:prstGeom prst="rect">
            <a:avLst/>
          </a:prstGeom>
          <a:solidFill>
            <a:srgbClr val="CFDCF0"/>
          </a:solidFill>
          <a:ln>
            <a:solidFill>
              <a:srgbClr val="CF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261872"/>
            <a:ext cx="4206240" cy="10058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4206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054D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362456"/>
            <a:ext cx="356615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产品策划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1737360"/>
            <a:ext cx="3913631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80">
                <a:solidFill>
                  <a:srgbClr val="5B6B87"/>
                </a:solidFill>
                <a:latin typeface="Microsoft YaHei"/>
              </a:rPr>
              <a:t>统筹 PPT 逻辑、作品定位、设计理念、应用价值与前景评估。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5272" y="1261872"/>
            <a:ext cx="4206240" cy="10058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234440"/>
            <a:ext cx="4206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5" y="13441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C56E8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1362456"/>
            <a:ext cx="356615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UI / 交互设计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1737360"/>
            <a:ext cx="3913631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80">
                <a:solidFill>
                  <a:srgbClr val="5B6B87"/>
                </a:solidFill>
                <a:latin typeface="Microsoft YaHei"/>
              </a:rPr>
              <a:t>负责核心界面展示、流程设计、视觉一致性与演示材料。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2633472"/>
            <a:ext cx="4206240" cy="10058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606040"/>
            <a:ext cx="4206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27157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0AE84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2734056"/>
            <a:ext cx="356615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Flutter 客户端开发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108960"/>
            <a:ext cx="3913631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80">
                <a:solidFill>
                  <a:srgbClr val="5B6B87"/>
                </a:solidFill>
                <a:latin typeface="Microsoft YaHei"/>
              </a:rPr>
              <a:t>负责移动端功能实现、状态管理、本地存储与跨平台适配。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5272" y="2633472"/>
            <a:ext cx="4206240" cy="1005840"/>
          </a:xfrm>
          <a:prstGeom prst="roundRect">
            <a:avLst/>
          </a:prstGeom>
          <a:solidFill>
            <a:srgbClr val="DFE7F7"/>
          </a:solidFill>
          <a:ln>
            <a:solidFill>
              <a:srgbClr val="DF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77840" y="2606040"/>
            <a:ext cx="4206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5" y="2715768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49640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2734056"/>
            <a:ext cx="356615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1D3B"/>
                </a:solidFill>
                <a:latin typeface="Microsoft YaHei"/>
              </a:rPr>
              <a:t>大模型 / 后端开发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3108960"/>
            <a:ext cx="3913631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80">
                <a:solidFill>
                  <a:srgbClr val="5B6B87"/>
                </a:solidFill>
                <a:latin typeface="Microsoft YaHei"/>
              </a:rPr>
              <a:t>负责蓝心能力接入、DeepSeek 可选接入、NestJS 后端骨架与联调规划。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34840"/>
            <a:ext cx="9372600" cy="1097280"/>
          </a:xfrm>
          <a:prstGeom prst="roundRect">
            <a:avLst/>
          </a:prstGeom>
          <a:solidFill>
            <a:srgbClr val="08379D"/>
          </a:solidFill>
          <a:ln>
            <a:solidFill>
              <a:srgbClr val="083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617720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让每一次学习都留下轨迹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983480"/>
            <a:ext cx="6126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让 AI 帮学生看见自己的进步，并推动下一次行动。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709160"/>
            <a:ext cx="23317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2400" b="1">
                <a:solidFill>
                  <a:srgbClr val="D2E6FF"/>
                </a:solidFill>
                <a:latin typeface="Microsoft YaHei"/>
              </a:rPr>
              <a:t>THANK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89320"/>
            <a:ext cx="93268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7"/>
                </a:solidFill>
                <a:latin typeface="Microsoft YaHei"/>
              </a:rPr>
              <a:t>StudyTrace 学迹 · 初赛设计文档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