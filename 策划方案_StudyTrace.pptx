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4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D4E"/>
          </a:solidFill>
          <a:ln>
            <a:solidFill>
              <a:srgbClr val="041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4AB8"/>
          </a:solidFill>
          <a:ln>
            <a:solidFill>
              <a:srgbClr val="0A4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2834640" cy="6858000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7406640" y="0"/>
            <a:ext cx="4846320" cy="3840480"/>
          </a:xfrm>
          <a:prstGeom prst="rtTriangle">
            <a:avLst/>
          </a:prstGeom>
          <a:solidFill>
            <a:srgbClr val="0D5DFF"/>
          </a:solidFill>
          <a:ln>
            <a:solidFill>
              <a:srgbClr val="0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 rot="5400000">
            <a:off x="8961120" y="1828800"/>
            <a:ext cx="4114800" cy="3566160"/>
          </a:xfrm>
          <a:prstGeom prst="triangle">
            <a:avLst/>
          </a:prstGeom>
          <a:solidFill>
            <a:srgbClr val="006DFF"/>
          </a:solidFill>
          <a:ln>
            <a:solidFill>
              <a:srgbClr val="00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0040"/>
            <a:ext cx="38404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 dirty="0" err="1">
                <a:solidFill>
                  <a:srgbClr val="C9DCFF"/>
                </a:solidFill>
                <a:latin typeface="Microsoft YaHei"/>
              </a:rPr>
              <a:t>大学生课程任务管理与</a:t>
            </a:r>
            <a:r>
              <a:rPr sz="1000" b="0" dirty="0">
                <a:solidFill>
                  <a:srgbClr val="C9DCFF"/>
                </a:solidFill>
                <a:latin typeface="Microsoft YaHei"/>
              </a:rPr>
              <a:t> AI </a:t>
            </a:r>
            <a:r>
              <a:rPr sz="1000" b="0" dirty="0" err="1">
                <a:solidFill>
                  <a:srgbClr val="C9DCFF"/>
                </a:solidFill>
                <a:latin typeface="Microsoft YaHei"/>
              </a:rPr>
              <a:t>学习助手</a:t>
            </a:r>
            <a:r>
              <a:rPr sz="1000" b="0" dirty="0">
                <a:solidFill>
                  <a:srgbClr val="C9DCFF"/>
                </a:solidFill>
                <a:latin typeface="Microsoft YaHei"/>
              </a:rPr>
              <a:t>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33271"/>
            <a:ext cx="5852160" cy="6858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800" b="1" dirty="0" err="1">
                <a:solidFill>
                  <a:srgbClr val="FFFFFF"/>
                </a:solidFill>
                <a:latin typeface="Microsoft YaHei"/>
              </a:rPr>
              <a:t>StudyTrace</a:t>
            </a:r>
            <a:r>
              <a:rPr sz="3800" b="1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Microsoft YaHei"/>
              </a:rPr>
              <a:t>学迹</a:t>
            </a:r>
            <a:endParaRPr sz="38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366760" y="1024128"/>
            <a:ext cx="2331720" cy="4754880"/>
          </a:xfrm>
          <a:prstGeom prst="roundRect">
            <a:avLst/>
          </a:prstGeom>
          <a:solidFill>
            <a:srgbClr val="061537"/>
          </a:solidFill>
          <a:ln w="19050"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31352" y="1316736"/>
            <a:ext cx="2002536" cy="4178808"/>
          </a:xfrm>
          <a:prstGeom prst="round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6089904"/>
            <a:ext cx="658368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" y="6208776"/>
            <a:ext cx="59436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9" b="1">
                <a:solidFill>
                  <a:srgbClr val="083B88"/>
                </a:solidFill>
                <a:latin typeface="Microsoft YaHei"/>
              </a:rPr>
              <a:t>定位：真实学习过程数据化 · AI 辅助行动 · 长期复盘沉淀</a:t>
            </a:r>
          </a:p>
        </p:txBody>
      </p:sp>
      <p:pic>
        <p:nvPicPr>
          <p:cNvPr id="20" name="Picture 19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137" y="1316736"/>
            <a:ext cx="1930965" cy="4178808"/>
          </a:xfrm>
          <a:prstGeom prst="rect">
            <a:avLst/>
          </a:prstGeom>
        </p:spPr>
      </p:pic>
      <p:pic>
        <p:nvPicPr>
          <p:cNvPr id="21" name="Picture 20" descr="logo白透明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07" y="832102"/>
            <a:ext cx="858193" cy="8412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项目背景与问题洞察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BACKGROUND &amp; USER PAINS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243584"/>
            <a:ext cx="4343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243584"/>
            <a:ext cx="73152" cy="65836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389888"/>
            <a:ext cx="40233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任务分散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755648"/>
            <a:ext cx="4023360" cy="7315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40" b="0">
                <a:solidFill>
                  <a:srgbClr val="657386"/>
                </a:solidFill>
                <a:latin typeface="Microsoft YaHei"/>
              </a:rPr>
              <a:t>课程作业、实验、竞赛任务散落在聊天、群公告、备忘录中。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121408"/>
            <a:ext cx="4343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121408"/>
            <a:ext cx="73152" cy="658368"/>
          </a:xfrm>
          <a:prstGeom prst="rect">
            <a:avLst/>
          </a:prstGeom>
          <a:solidFill>
            <a:srgbClr val="7FB2FF"/>
          </a:solidFill>
          <a:ln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2267712"/>
            <a:ext cx="40233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DDL 容易遗漏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633472"/>
            <a:ext cx="4023360" cy="7315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40" b="0">
                <a:solidFill>
                  <a:srgbClr val="657386"/>
                </a:solidFill>
                <a:latin typeface="Microsoft YaHei"/>
              </a:rPr>
              <a:t>截止时间多且节奏不同，学生很难持续保持风险感知。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99232"/>
            <a:ext cx="4343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999232"/>
            <a:ext cx="73152" cy="65836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145536"/>
            <a:ext cx="40233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记录不连续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511296"/>
            <a:ext cx="4023360" cy="7315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40" b="0">
                <a:solidFill>
                  <a:srgbClr val="657386"/>
                </a:solidFill>
                <a:latin typeface="Microsoft YaHei"/>
              </a:rPr>
              <a:t>学习过程常被打断，日志和反思无法长期沉淀。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77056"/>
            <a:ext cx="4343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877056"/>
            <a:ext cx="73152" cy="658368"/>
          </a:xfrm>
          <a:prstGeom prst="rect">
            <a:avLst/>
          </a:prstGeom>
          <a:solidFill>
            <a:srgbClr val="7FB2FF"/>
          </a:solidFill>
          <a:ln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4023360"/>
            <a:ext cx="40233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复盘成本高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389120"/>
            <a:ext cx="4023360" cy="7315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40" b="0">
                <a:solidFill>
                  <a:srgbClr val="657386"/>
                </a:solidFill>
                <a:latin typeface="Microsoft YaHei"/>
              </a:rPr>
              <a:t>周报与总结依赖人工整理，耗时且容易流于形式。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754880"/>
            <a:ext cx="4343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4754880"/>
            <a:ext cx="73152" cy="65836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4901184"/>
            <a:ext cx="40233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AI 流程割裂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5266944"/>
            <a:ext cx="4023360" cy="7315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40" b="0">
                <a:solidFill>
                  <a:srgbClr val="657386"/>
                </a:solidFill>
                <a:latin typeface="Microsoft YaHei"/>
              </a:rPr>
              <a:t>AI 工具常停留在问答，缺少与任务执行、记录、日历的联动。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1234440"/>
            <a:ext cx="5806440" cy="448056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D7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89320" y="1600200"/>
            <a:ext cx="219456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800" b="1">
                <a:solidFill>
                  <a:srgbClr val="083B88"/>
                </a:solidFill>
                <a:latin typeface="Microsoft YaHei"/>
              </a:rPr>
              <a:t>核心洞察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148840"/>
            <a:ext cx="4937760" cy="8686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800" b="1">
                <a:solidFill>
                  <a:srgbClr val="1E2A3A"/>
                </a:solidFill>
                <a:latin typeface="Microsoft YaHei"/>
              </a:rPr>
              <a:t>学生不缺“记录工具”，缺的是一个能长期记录真实过程、主动分析学习风险、并推动下一步行动的学习管理系统。</a:t>
            </a:r>
          </a:p>
        </p:txBody>
      </p:sp>
      <p:sp>
        <p:nvSpPr>
          <p:cNvPr id="32" name="Oval 31"/>
          <p:cNvSpPr/>
          <p:nvPr/>
        </p:nvSpPr>
        <p:spPr>
          <a:xfrm>
            <a:off x="6080760" y="3886200"/>
            <a:ext cx="1097280" cy="10972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0" y="4297680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050" b="1">
                <a:solidFill>
                  <a:srgbClr val="0B5CFF"/>
                </a:solidFill>
                <a:latin typeface="Microsoft YaHei"/>
              </a:rPr>
              <a:t>长期记录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196328" y="4434840"/>
            <a:ext cx="438912" cy="0"/>
          </a:xfrm>
          <a:prstGeom prst="line">
            <a:avLst/>
          </a:prstGeom>
          <a:ln w="1905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772400" y="3886200"/>
            <a:ext cx="1097280" cy="1097280"/>
          </a:xfrm>
          <a:prstGeom prst="ellipse">
            <a:avLst/>
          </a:prstGeom>
          <a:solidFill>
            <a:srgbClr val="0B5CFF"/>
          </a:solidFill>
          <a:ln w="15240"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0" y="4297680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主动分析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887968" y="4434840"/>
            <a:ext cx="438912" cy="0"/>
          </a:xfrm>
          <a:prstGeom prst="line">
            <a:avLst/>
          </a:prstGeom>
          <a:ln w="1905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464040" y="3886200"/>
            <a:ext cx="1097280" cy="10972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55480" y="4297680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050" b="1">
                <a:solidFill>
                  <a:srgbClr val="0B5CFF"/>
                </a:solidFill>
                <a:latin typeface="Microsoft YaHei"/>
              </a:rPr>
              <a:t>辅助行动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02/15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logo黑透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6459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目标用户与使用场景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TARGET USERS &amp; DAILY SCENARIOS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243584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243584"/>
            <a:ext cx="73152" cy="1828800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389888"/>
            <a:ext cx="297180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Microsoft YaHei"/>
              </a:rPr>
              <a:t>课程学习型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746504"/>
            <a:ext cx="2971800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大学本科生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多门课程并行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作业与实验截止频繁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需要清晰任务清单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43584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243584"/>
            <a:ext cx="73152" cy="1828800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389888"/>
            <a:ext cx="297180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Microsoft YaHei"/>
              </a:rPr>
              <a:t>备考冲刺型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1746504"/>
            <a:ext cx="2971800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考研 / 考证人群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每日学习记录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番茄钟专注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周复盘与计划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43584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243584"/>
            <a:ext cx="73152" cy="1828800"/>
          </a:xfrm>
          <a:prstGeom prst="rect">
            <a:avLst/>
          </a:prstGeom>
          <a:solidFill>
            <a:srgbClr val="00A882"/>
          </a:solidFill>
          <a:ln>
            <a:solidFill>
              <a:srgbClr val="00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389888"/>
            <a:ext cx="297180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Microsoft YaHei"/>
              </a:rPr>
              <a:t>项目竞赛型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1746504"/>
            <a:ext cx="2971800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竞赛 / 项目制学习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复杂任务拆解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阶段性风险提醒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团队材料沉淀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657600"/>
            <a:ext cx="274320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700" b="1">
                <a:solidFill>
                  <a:srgbClr val="1E2A3A"/>
                </a:solidFill>
                <a:latin typeface="Microsoft YaHei"/>
              </a:rPr>
              <a:t>一天中的高频使用流程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06240"/>
            <a:ext cx="2057400" cy="96012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370832"/>
            <a:ext cx="6400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00" b="1">
                <a:solidFill>
                  <a:srgbClr val="0B5CFF"/>
                </a:solidFill>
                <a:latin typeface="Microsoft YaHei"/>
              </a:rPr>
              <a:t>早上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45152"/>
            <a:ext cx="16459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查看今日任务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26079" y="4681728"/>
            <a:ext cx="530353" cy="0"/>
          </a:xfrm>
          <a:prstGeom prst="line">
            <a:avLst/>
          </a:prstGeom>
          <a:ln w="1524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611879" y="4206240"/>
            <a:ext cx="2057400" cy="960120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59" y="4370832"/>
            <a:ext cx="6400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00" b="1">
                <a:solidFill>
                  <a:srgbClr val="0B5CFF"/>
                </a:solidFill>
                <a:latin typeface="Microsoft YaHei"/>
              </a:rPr>
              <a:t>课堂后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59" y="4645152"/>
            <a:ext cx="16459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记录学习内容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715000" y="4681728"/>
            <a:ext cx="530352" cy="0"/>
          </a:xfrm>
          <a:prstGeom prst="line">
            <a:avLst/>
          </a:prstGeom>
          <a:ln w="1524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00800" y="4206240"/>
            <a:ext cx="2057400" cy="96012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4370832"/>
            <a:ext cx="6400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00" b="1">
                <a:solidFill>
                  <a:srgbClr val="0B5CFF"/>
                </a:solidFill>
                <a:latin typeface="Microsoft YaHei"/>
              </a:rPr>
              <a:t>晚上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645152"/>
            <a:ext cx="16459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番茄钟执行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03920" y="4681728"/>
            <a:ext cx="530352" cy="0"/>
          </a:xfrm>
          <a:prstGeom prst="line">
            <a:avLst/>
          </a:prstGeom>
          <a:ln w="1524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89719" y="4206240"/>
            <a:ext cx="2057400" cy="960120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72599" y="4370832"/>
            <a:ext cx="6400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00" b="1">
                <a:solidFill>
                  <a:srgbClr val="0B5CFF"/>
                </a:solidFill>
                <a:latin typeface="Microsoft YaHei"/>
              </a:rPr>
              <a:t>周末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599" y="4645152"/>
            <a:ext cx="16459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AI 周报复盘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03/15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logo黑透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6459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作品简介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PRODUCT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83080" y="1252728"/>
            <a:ext cx="7132320" cy="32624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 dirty="0" err="1">
                <a:solidFill>
                  <a:srgbClr val="1E2A3A"/>
                </a:solidFill>
                <a:latin typeface="Microsoft YaHei"/>
              </a:rPr>
              <a:t>StudyTrace是一款面向大学生的移动端学习管理</a:t>
            </a:r>
            <a:r>
              <a:rPr sz="2000" b="1" dirty="0">
                <a:solidFill>
                  <a:srgbClr val="1E2A3A"/>
                </a:solidFill>
                <a:latin typeface="Microsoft YaHei"/>
              </a:rPr>
              <a:t>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37360"/>
            <a:ext cx="731520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>
                <a:solidFill>
                  <a:srgbClr val="657386"/>
                </a:solidFill>
                <a:latin typeface="Microsoft YaHei"/>
              </a:rPr>
              <a:t>围绕课程任务、学习记录、专注执行、数据统计与 AI 分析，帮助学生形成可持续的学习闭环。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889504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课程任务管理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200400"/>
            <a:ext cx="20574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任务/子任务/状态筛选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2743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0752" y="2889504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学习日志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3200400"/>
            <a:ext cx="20574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按课程沉淀学习过程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43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2889504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日历与统计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200400"/>
            <a:ext cx="20574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轨迹可视化与趋势分析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743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00032" y="2889504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番茄钟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3200400"/>
            <a:ext cx="20574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专注计时与记录联动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86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4032504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AI 周报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343400"/>
            <a:ext cx="20574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7 维度分析与建议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60" y="3886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30752" y="4032504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AI 任务拆解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0752" y="4343400"/>
            <a:ext cx="20574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复杂任务转行动清单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886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65392" y="4032504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AI 知识闪卡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4343400"/>
            <a:ext cx="20574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从记录生成问答卡片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3886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00032" y="4032504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多模态输入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0032" y="4343400"/>
            <a:ext cx="20574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图片理解 / OCR / 语音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532120"/>
            <a:ext cx="10698480" cy="438912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C9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" y="5650992"/>
            <a:ext cx="1014984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50" b="1">
                <a:solidFill>
                  <a:srgbClr val="083B88"/>
                </a:solidFill>
                <a:latin typeface="Microsoft YaHei"/>
              </a:rPr>
              <a:t>AI 能力：以蓝心大模型为核心，DeepSeek 作为用户可选的自定义 API 接入。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04/15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logo黑透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64592"/>
            <a:ext cx="502920" cy="502920"/>
          </a:xfrm>
          <a:prstGeom prst="rect">
            <a:avLst/>
          </a:prstGeom>
        </p:spPr>
      </p:pic>
      <p:pic>
        <p:nvPicPr>
          <p:cNvPr id="42" name="Picture 40" descr="logo黑透明.png">
            <a:extLst>
              <a:ext uri="{FF2B5EF4-FFF2-40B4-BE49-F238E27FC236}">
                <a16:creationId xmlns:a16="http://schemas.microsoft.com/office/drawing/2014/main" id="{56AA8B83-3A36-EE48-5552-B41BFB566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34399"/>
            <a:ext cx="751888" cy="751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核心设计理念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DESIGN PRINCIPLES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6080760" y="1508760"/>
            <a:ext cx="2377440" cy="1920240"/>
          </a:xfrm>
          <a:prstGeom prst="curvedConnector3">
            <a:avLst/>
          </a:prstGeom>
          <a:ln w="25400">
            <a:solidFill>
              <a:srgbClr val="BB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080760" y="3429000"/>
            <a:ext cx="2377440" cy="1874520"/>
          </a:xfrm>
          <a:prstGeom prst="curvedConnector3">
            <a:avLst/>
          </a:prstGeom>
          <a:ln w="25400">
            <a:solidFill>
              <a:srgbClr val="BB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3703320" y="3429000"/>
            <a:ext cx="2377440" cy="1874520"/>
          </a:xfrm>
          <a:prstGeom prst="curvedConnector3">
            <a:avLst/>
          </a:prstGeom>
          <a:ln w="25400">
            <a:solidFill>
              <a:srgbClr val="BB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703320" y="1508760"/>
            <a:ext cx="2377440" cy="1920240"/>
          </a:xfrm>
          <a:prstGeom prst="curvedConnector3">
            <a:avLst/>
          </a:prstGeom>
          <a:ln w="25400">
            <a:solidFill>
              <a:srgbClr val="BB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349240" y="1005839"/>
            <a:ext cx="1463040" cy="1005840"/>
          </a:xfrm>
          <a:prstGeom prst="ellipse">
            <a:avLst/>
          </a:prstGeom>
          <a:solidFill>
            <a:srgbClr val="0B5C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234439"/>
            <a:ext cx="82296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581912"/>
            <a:ext cx="11887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0">
                <a:solidFill>
                  <a:srgbClr val="EAF3FF"/>
                </a:solidFill>
                <a:latin typeface="Microsoft YaHei"/>
              </a:rPr>
              <a:t>真实学习过程</a:t>
            </a:r>
          </a:p>
        </p:txBody>
      </p:sp>
      <p:sp>
        <p:nvSpPr>
          <p:cNvPr id="16" name="Oval 15"/>
          <p:cNvSpPr/>
          <p:nvPr/>
        </p:nvSpPr>
        <p:spPr>
          <a:xfrm>
            <a:off x="7726679" y="2926080"/>
            <a:ext cx="1463040" cy="1005840"/>
          </a:xfrm>
          <a:prstGeom prst="ellipse">
            <a:avLst/>
          </a:prstGeom>
          <a:solidFill>
            <a:srgbClr val="0A4AB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3154680"/>
            <a:ext cx="82296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502152"/>
            <a:ext cx="11887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0">
                <a:solidFill>
                  <a:srgbClr val="EAF3FF"/>
                </a:solidFill>
                <a:latin typeface="Microsoft YaHei"/>
              </a:rPr>
              <a:t>任务与专注</a:t>
            </a:r>
          </a:p>
        </p:txBody>
      </p:sp>
      <p:sp>
        <p:nvSpPr>
          <p:cNvPr id="19" name="Oval 18"/>
          <p:cNvSpPr/>
          <p:nvPr/>
        </p:nvSpPr>
        <p:spPr>
          <a:xfrm>
            <a:off x="5349240" y="4800600"/>
            <a:ext cx="1463040" cy="1005840"/>
          </a:xfrm>
          <a:prstGeom prst="ellipse">
            <a:avLst/>
          </a:prstGeom>
          <a:solidFill>
            <a:srgbClr val="4E8C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0" y="5029200"/>
            <a:ext cx="82296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376672"/>
            <a:ext cx="11887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0">
                <a:solidFill>
                  <a:srgbClr val="EAF3FF"/>
                </a:solidFill>
                <a:latin typeface="Microsoft YaHei"/>
              </a:rPr>
              <a:t>数据与风险</a:t>
            </a:r>
          </a:p>
        </p:txBody>
      </p:sp>
      <p:sp>
        <p:nvSpPr>
          <p:cNvPr id="22" name="Oval 21"/>
          <p:cNvSpPr/>
          <p:nvPr/>
        </p:nvSpPr>
        <p:spPr>
          <a:xfrm>
            <a:off x="2971800" y="2926080"/>
            <a:ext cx="1463040" cy="1005840"/>
          </a:xfrm>
          <a:prstGeom prst="ellipse">
            <a:avLst/>
          </a:prstGeom>
          <a:solidFill>
            <a:srgbClr val="7FB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39" y="3154680"/>
            <a:ext cx="82296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复盘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502152"/>
            <a:ext cx="11887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50" b="0">
                <a:solidFill>
                  <a:srgbClr val="EAF3FF"/>
                </a:solidFill>
                <a:latin typeface="Microsoft YaHei"/>
              </a:rPr>
              <a:t>周报与计划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141732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1417320"/>
            <a:ext cx="73152" cy="1234440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1563624"/>
            <a:ext cx="1783079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学习印记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1929384"/>
            <a:ext cx="1783079" cy="6492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记录过程，而非只保存结果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24612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3246120"/>
            <a:ext cx="73152" cy="1234440"/>
          </a:xfrm>
          <a:prstGeom prst="rect">
            <a:avLst/>
          </a:prstGeom>
          <a:solidFill>
            <a:srgbClr val="00A882"/>
          </a:solidFill>
          <a:ln>
            <a:solidFill>
              <a:srgbClr val="00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3392424"/>
            <a:ext cx="1783079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低负担记录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758183"/>
            <a:ext cx="1783079" cy="6492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AI 与多模态输入降低记录成本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20072" y="141732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20072" y="1417320"/>
            <a:ext cx="73152" cy="1234440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84664" y="1563624"/>
            <a:ext cx="1783079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智能复盘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4664" y="1929384"/>
            <a:ext cx="1783079" cy="6492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将分散数据转为结构化洞察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20072" y="324612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720072" y="3246120"/>
            <a:ext cx="73152" cy="1234440"/>
          </a:xfrm>
          <a:prstGeom prst="rect">
            <a:avLst/>
          </a:prstGeom>
          <a:solidFill>
            <a:srgbClr val="FF9D00"/>
          </a:solidFill>
          <a:ln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84664" y="3392424"/>
            <a:ext cx="1783079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本地优先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4664" y="3758183"/>
            <a:ext cx="1783079" cy="6492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轻量存储与隐私友好体验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05/15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logo黑透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6459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产品功能总览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FUNCTION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2423160" cy="566928"/>
          </a:xfrm>
          <a:prstGeom prst="round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426464"/>
            <a:ext cx="20574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基础管理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57400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194560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任务管理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15768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2852927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学习日志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74136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511296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学习日历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32504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4169664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课程归档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1234440"/>
            <a:ext cx="2423160" cy="566928"/>
          </a:xfrm>
          <a:prstGeom prst="roundRect">
            <a:avLst/>
          </a:prstGeom>
          <a:solidFill>
            <a:srgbClr val="00A882"/>
          </a:solidFill>
          <a:ln>
            <a:solidFill>
              <a:srgbClr val="00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49039" y="1426464"/>
            <a:ext cx="20574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学习执行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2057400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30752" y="2194560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番茄钟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2715768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30752" y="2852927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截止提醒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3374136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30752" y="3511296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子任务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4032504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30752" y="4169664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完成率统计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1234440"/>
            <a:ext cx="2423160" cy="566928"/>
          </a:xfrm>
          <a:prstGeom prst="round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1426464"/>
            <a:ext cx="20574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AI 辅助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2057400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11112" y="2194560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日志生成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2715768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1112" y="2852927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任务拆解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3374136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11112" y="3511296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周报分析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4032504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11112" y="4169664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风险提醒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46520" y="4690872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11112" y="4828032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知识闪卡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26880" y="1234440"/>
            <a:ext cx="2423160" cy="566928"/>
          </a:xfrm>
          <a:prstGeom prst="roundRect">
            <a:avLst/>
          </a:prstGeom>
          <a:solidFill>
            <a:srgbClr val="FF9D00"/>
          </a:solidFill>
          <a:ln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09759" y="1426464"/>
            <a:ext cx="20574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个性化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0" y="2057400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91472" y="2194560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深色模式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26880" y="2715768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91472" y="2852927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主题皮肤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26880" y="3374136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91472" y="3511296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个人资料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4032504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491472" y="4169664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API 配置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5623560"/>
            <a:ext cx="10698480" cy="50292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C9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4400" y="5769864"/>
            <a:ext cx="1024128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>
                <a:solidFill>
                  <a:srgbClr val="083B88"/>
                </a:solidFill>
                <a:latin typeface="Microsoft YaHei"/>
              </a:rPr>
              <a:t>模块关系：任务 / 日志 / 日历 / 统计共享学习数据底座，AI 能力在关键节点主动生成、拆解、分析与提醒。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06/15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logo黑透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6459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核心界面展示：学习首页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CORE UI · HOME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2743200" cy="466344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0B5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069080" y="1417320"/>
            <a:ext cx="3291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69080" y="1417320"/>
            <a:ext cx="73152" cy="74980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33672" y="1563624"/>
            <a:ext cx="297180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今日学习状态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1929384"/>
            <a:ext cx="2971800" cy="16459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显示连续打卡、学习进度与近期动态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2514600"/>
            <a:ext cx="3291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069080" y="2514600"/>
            <a:ext cx="73152" cy="74980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3672" y="2660904"/>
            <a:ext cx="297180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任务进度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3026664"/>
            <a:ext cx="2971800" cy="16459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聚合未完成任务与截止期优先事项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3611880"/>
            <a:ext cx="3291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69080" y="3611880"/>
            <a:ext cx="73152" cy="749808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33672" y="3758184"/>
            <a:ext cx="297180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最近学习记录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3672" y="4123944"/>
            <a:ext cx="2971800" cy="16459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快速回顾课程学习轨迹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4709159"/>
            <a:ext cx="3291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069080" y="4709159"/>
            <a:ext cx="73152" cy="749808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33672" y="4855464"/>
            <a:ext cx="297180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AI / 周报入口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3672" y="5221223"/>
            <a:ext cx="2971800" cy="16459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在首页直接进入 AI 助手与学习周报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1417320"/>
            <a:ext cx="3383280" cy="4389120"/>
          </a:xfrm>
          <a:prstGeom prst="roundRect">
            <a:avLst/>
          </a:prstGeom>
          <a:solidFill>
            <a:srgbClr val="083B88"/>
          </a:solidFill>
          <a:ln>
            <a:solidFill>
              <a:srgbClr val="083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19872" y="1810512"/>
            <a:ext cx="256032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设计重点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423160"/>
            <a:ext cx="2651760" cy="2377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EAF3FF"/>
                </a:solidFill>
                <a:latin typeface="Microsoft YaHei"/>
              </a:rPr>
              <a:t>• 信息密度适合手机端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EAF3FF"/>
                </a:solidFill>
                <a:latin typeface="Microsoft YaHei"/>
              </a:rPr>
              <a:t>• 支持快速查看与快速行动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EAF3FF"/>
                </a:solidFill>
                <a:latin typeface="Microsoft YaHei"/>
              </a:rPr>
              <a:t>• 首页即学习状态中枢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EAF3FF"/>
                </a:solidFill>
                <a:latin typeface="Microsoft YaHei"/>
              </a:rPr>
              <a:t>• 将 AI 入口嵌入真实流程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07/15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386" y="1325880"/>
            <a:ext cx="2154907" cy="4663440"/>
          </a:xfrm>
          <a:prstGeom prst="rect">
            <a:avLst/>
          </a:prstGeom>
        </p:spPr>
      </p:pic>
      <p:pic>
        <p:nvPicPr>
          <p:cNvPr id="34" name="Picture 33" descr="logo黑透明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16459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核心界面展示：任务 / 日志 / 日历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CORE UI · TASKS / LOGS / CALENDAR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234440"/>
            <a:ext cx="2514600" cy="43434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0B5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705856"/>
            <a:ext cx="2423160" cy="4389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Microsoft YaHei"/>
              </a:rPr>
              <a:t>任务可拆分子任务</a:t>
            </a:r>
            <a:br/>
            <a:r>
              <a:rPr sz="1000" b="1">
                <a:solidFill>
                  <a:srgbClr val="1E2A3A"/>
                </a:solidFill>
                <a:latin typeface="Microsoft YaHei"/>
              </a:rPr>
              <a:t>支持状态/类型筛选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234440"/>
            <a:ext cx="2514600" cy="43434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0B5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5705856"/>
            <a:ext cx="2423160" cy="4389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Microsoft YaHei"/>
              </a:rPr>
              <a:t>日志按课程沉淀</a:t>
            </a:r>
            <a:br/>
            <a:r>
              <a:rPr sz="1000" b="1">
                <a:solidFill>
                  <a:srgbClr val="1E2A3A"/>
                </a:solidFill>
                <a:latin typeface="Microsoft YaHei"/>
              </a:rPr>
              <a:t>记录问题与下一步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234440"/>
            <a:ext cx="2514600" cy="43434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0B5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5705856"/>
            <a:ext cx="2423160" cy="4389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Microsoft YaHei"/>
              </a:rPr>
              <a:t>月视图形成长期轨迹</a:t>
            </a:r>
            <a:br/>
            <a:r>
              <a:rPr sz="1000" b="1">
                <a:solidFill>
                  <a:srgbClr val="1E2A3A"/>
                </a:solidFill>
                <a:latin typeface="Microsoft YaHei"/>
              </a:rPr>
              <a:t>点击查看当天详情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08/15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029" y="1234440"/>
            <a:ext cx="2007021" cy="4343400"/>
          </a:xfrm>
          <a:prstGeom prst="rect">
            <a:avLst/>
          </a:prstGeom>
        </p:spPr>
      </p:pic>
      <p:pic>
        <p:nvPicPr>
          <p:cNvPr id="24" name="Picture 23" descr="l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789" y="1234440"/>
            <a:ext cx="2007021" cy="4343400"/>
          </a:xfrm>
          <a:prstGeom prst="rect">
            <a:avLst/>
          </a:prstGeom>
        </p:spPr>
      </p:pic>
      <p:pic>
        <p:nvPicPr>
          <p:cNvPr id="25" name="Picture 24" descr="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549" y="1234440"/>
            <a:ext cx="2007021" cy="4343400"/>
          </a:xfrm>
          <a:prstGeom prst="rect">
            <a:avLst/>
          </a:prstGeom>
        </p:spPr>
      </p:pic>
      <p:pic>
        <p:nvPicPr>
          <p:cNvPr id="26" name="Picture 25" descr="logo黑透明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0" y="16459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AI 功能展示：蓝心 AI 学习助手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AI ASSISTANT · BLUEHEART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2084832" y="1755648"/>
            <a:ext cx="3995928" cy="1124712"/>
          </a:xfrm>
          <a:prstGeom prst="line">
            <a:avLst/>
          </a:prstGeom>
          <a:ln w="12700">
            <a:solidFill>
              <a:srgbClr val="C4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42232" y="1481328"/>
            <a:ext cx="1161288" cy="1399032"/>
          </a:xfrm>
          <a:prstGeom prst="line">
            <a:avLst/>
          </a:prstGeom>
          <a:ln w="12700">
            <a:solidFill>
              <a:srgbClr val="C4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303520" y="1481328"/>
            <a:ext cx="2633472" cy="1399032"/>
          </a:xfrm>
          <a:prstGeom prst="line">
            <a:avLst/>
          </a:prstGeom>
          <a:ln w="12700">
            <a:solidFill>
              <a:srgbClr val="C4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080760" y="2761487"/>
            <a:ext cx="4553712" cy="118873"/>
          </a:xfrm>
          <a:prstGeom prst="line">
            <a:avLst/>
          </a:prstGeom>
          <a:ln w="12700">
            <a:solidFill>
              <a:srgbClr val="C4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6080760" y="2880360"/>
            <a:ext cx="2816351" cy="2212847"/>
          </a:xfrm>
          <a:prstGeom prst="line">
            <a:avLst/>
          </a:prstGeom>
          <a:ln w="12700">
            <a:solidFill>
              <a:srgbClr val="C4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965192" y="2880360"/>
            <a:ext cx="1115568" cy="2441447"/>
          </a:xfrm>
          <a:prstGeom prst="line">
            <a:avLst/>
          </a:prstGeom>
          <a:ln w="12700">
            <a:solidFill>
              <a:srgbClr val="C4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039112" y="2880360"/>
            <a:ext cx="4041648" cy="1664208"/>
          </a:xfrm>
          <a:prstGeom prst="line">
            <a:avLst/>
          </a:prstGeom>
          <a:ln w="12700">
            <a:solidFill>
              <a:srgbClr val="C4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297680" y="1874519"/>
            <a:ext cx="2011680" cy="2011680"/>
          </a:xfrm>
          <a:prstGeom prst="ellipse">
            <a:avLst/>
          </a:prstGeom>
          <a:solidFill>
            <a:srgbClr val="0B5CFF"/>
          </a:solidFill>
          <a:ln w="25400">
            <a:solidFill>
              <a:srgbClr val="82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2441447"/>
            <a:ext cx="141732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Microsoft YaHei"/>
              </a:rPr>
              <a:t>蓝心</a:t>
            </a:r>
            <a:r>
              <a:rPr sz="2000" b="1" dirty="0">
                <a:solidFill>
                  <a:srgbClr val="FFFFFF"/>
                </a:solidFill>
                <a:latin typeface="Microsoft YaHei"/>
              </a:rPr>
              <a:t>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8596" y="2939796"/>
            <a:ext cx="10972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000" b="0" dirty="0" err="1">
                <a:solidFill>
                  <a:srgbClr val="D8E9FF"/>
                </a:solidFill>
                <a:latin typeface="Microsoft YaHei"/>
              </a:rPr>
              <a:t>核心能力</a:t>
            </a:r>
            <a:endParaRPr sz="1000" b="0" dirty="0">
              <a:solidFill>
                <a:srgbClr val="D8E9FF"/>
              </a:solidFill>
              <a:latin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4400" y="132588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1325880"/>
            <a:ext cx="73152" cy="868680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1472184"/>
            <a:ext cx="2011679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>
                <a:solidFill>
                  <a:srgbClr val="1E2A3A"/>
                </a:solidFill>
                <a:latin typeface="Microsoft YaHei"/>
              </a:rPr>
              <a:t>流式对话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1837943"/>
            <a:ext cx="2011679" cy="28346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实时响应 / Markdown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799" y="105156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971799" y="1051560"/>
            <a:ext cx="73152" cy="868680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36391" y="1197863"/>
            <a:ext cx="2011679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>
                <a:solidFill>
                  <a:srgbClr val="1E2A3A"/>
                </a:solidFill>
                <a:latin typeface="Microsoft YaHei"/>
              </a:rPr>
              <a:t>图片理解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1" y="1563624"/>
            <a:ext cx="2011679" cy="28346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拍照或选图分析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105156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43800" y="1051560"/>
            <a:ext cx="73152" cy="868680"/>
          </a:xfrm>
          <a:prstGeom prst="rect">
            <a:avLst/>
          </a:prstGeom>
          <a:solidFill>
            <a:srgbClr val="00A882"/>
          </a:solidFill>
          <a:ln>
            <a:solidFill>
              <a:srgbClr val="00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08392" y="1197863"/>
            <a:ext cx="2011679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>
                <a:solidFill>
                  <a:srgbClr val="1E2A3A"/>
                </a:solidFill>
                <a:latin typeface="Microsoft YaHei"/>
              </a:rPr>
              <a:t>生成日志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8392" y="1563624"/>
            <a:ext cx="2011679" cy="28346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自然语言转结构化记录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64040" y="233172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464040" y="2331720"/>
            <a:ext cx="73152" cy="868680"/>
          </a:xfrm>
          <a:prstGeom prst="rect">
            <a:avLst/>
          </a:prstGeom>
          <a:solidFill>
            <a:srgbClr val="FF9D00"/>
          </a:solidFill>
          <a:ln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28632" y="2478024"/>
            <a:ext cx="2011679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>
                <a:solidFill>
                  <a:srgbClr val="1E2A3A"/>
                </a:solidFill>
                <a:latin typeface="Microsoft YaHei"/>
              </a:rPr>
              <a:t>任务拆解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8632" y="2843784"/>
            <a:ext cx="2011679" cy="28346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复杂目标拆子任务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26679" y="466344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726679" y="4663440"/>
            <a:ext cx="73152" cy="868680"/>
          </a:xfrm>
          <a:prstGeom prst="rect">
            <a:avLst/>
          </a:prstGeom>
          <a:solidFill>
            <a:srgbClr val="1E7BFF"/>
          </a:solidFill>
          <a:ln>
            <a:solidFill>
              <a:srgbClr val="1E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91271" y="4809744"/>
            <a:ext cx="2011679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>
                <a:solidFill>
                  <a:srgbClr val="1E2A3A"/>
                </a:solidFill>
                <a:latin typeface="Microsoft YaHei"/>
              </a:rPr>
              <a:t>周报分析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1271" y="5175504"/>
            <a:ext cx="2011679" cy="28346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7 维度总结建议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94760" y="489204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794760" y="4892040"/>
            <a:ext cx="73152" cy="868680"/>
          </a:xfrm>
          <a:prstGeom prst="rect">
            <a:avLst/>
          </a:prstGeom>
          <a:solidFill>
            <a:srgbClr val="FF5A5F"/>
          </a:solidFill>
          <a:ln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59352" y="5038344"/>
            <a:ext cx="2011679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>
                <a:solidFill>
                  <a:srgbClr val="1E2A3A"/>
                </a:solidFill>
                <a:latin typeface="Microsoft YaHei"/>
              </a:rPr>
              <a:t>风险提醒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9352" y="5404104"/>
            <a:ext cx="2011679" cy="28346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DDL / 断档 / 进度偏低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411480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68680" y="4114800"/>
            <a:ext cx="73152" cy="868680"/>
          </a:xfrm>
          <a:prstGeom prst="rect">
            <a:avLst/>
          </a:prstGeom>
          <a:solidFill>
            <a:srgbClr val="7FB2FF"/>
          </a:solidFill>
          <a:ln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3271" y="4261104"/>
            <a:ext cx="2011679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1">
                <a:solidFill>
                  <a:srgbClr val="1E2A3A"/>
                </a:solidFill>
                <a:latin typeface="Microsoft YaHei"/>
              </a:rPr>
              <a:t>知识闪卡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1" y="4626864"/>
            <a:ext cx="2011679" cy="28346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记录转问答卡片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" y="5806440"/>
            <a:ext cx="10058400" cy="36576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C9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234440" y="5907024"/>
            <a:ext cx="960120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1">
                <a:solidFill>
                  <a:srgbClr val="083B88"/>
                </a:solidFill>
                <a:latin typeface="Microsoft YaHei"/>
              </a:rPr>
              <a:t>说明：DeepSeek 作为用户可选的自定义 API 接入，不作为“双 AI 引擎”表述。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09/15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logo黑透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6459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典型用户流程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USER JOURNEY · CLOSED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3867912" y="2039112"/>
            <a:ext cx="457200" cy="0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62672" y="2039112"/>
            <a:ext cx="457200" cy="0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29800" y="2697480"/>
            <a:ext cx="0" cy="594359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67912" y="4096511"/>
            <a:ext cx="457200" cy="0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62672" y="4096511"/>
            <a:ext cx="457200" cy="0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14173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1673352"/>
            <a:ext cx="502920" cy="502920"/>
          </a:xfrm>
          <a:prstGeom prst="ellipse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1810512"/>
            <a:ext cx="502920" cy="12801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1664208"/>
            <a:ext cx="201168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创建课程任务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057400"/>
            <a:ext cx="20574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输入作业/实验/竞赛目标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14173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63440" y="1673352"/>
            <a:ext cx="502920" cy="502920"/>
          </a:xfrm>
          <a:prstGeom prst="ellipse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1810512"/>
            <a:ext cx="502920" cy="12801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1664208"/>
            <a:ext cx="201168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番茄钟学习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057400"/>
            <a:ext cx="20574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完成一次专注学习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14173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58200" y="1673352"/>
            <a:ext cx="502920" cy="502920"/>
          </a:xfrm>
          <a:prstGeom prst="ellipse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1810512"/>
            <a:ext cx="502920" cy="12801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664208"/>
            <a:ext cx="201168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AI 生成日志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057400"/>
            <a:ext cx="20574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自动整理学习内容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4747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8680" y="3730752"/>
            <a:ext cx="502920" cy="502920"/>
          </a:xfrm>
          <a:prstGeom prst="ellipse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3867911"/>
            <a:ext cx="502920" cy="12801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3721608"/>
            <a:ext cx="201168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沉淀到日历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114800"/>
            <a:ext cx="20574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形成学习轨迹与统计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34747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663440" y="3730752"/>
            <a:ext cx="502920" cy="502920"/>
          </a:xfrm>
          <a:prstGeom prst="ellipse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63440" y="3867911"/>
            <a:ext cx="502920" cy="12801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721608"/>
            <a:ext cx="201168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周末生成周报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4114800"/>
            <a:ext cx="20574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AI 分析一周表现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20" y="34747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458200" y="3730752"/>
            <a:ext cx="502920" cy="502920"/>
          </a:xfrm>
          <a:prstGeom prst="ellipse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58200" y="3867911"/>
            <a:ext cx="502920" cy="12801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721608"/>
            <a:ext cx="201168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风险与建议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4114800"/>
            <a:ext cx="20574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输出下周行动建议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5440" y="5257800"/>
            <a:ext cx="2057400" cy="59436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0B5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72600" y="5335524"/>
            <a:ext cx="178308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00" b="1">
                <a:solidFill>
                  <a:srgbClr val="0B5CFF"/>
                </a:solidFill>
                <a:latin typeface="Microsoft YaHei"/>
              </a:rPr>
              <a:t>流程截图区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5646420"/>
            <a:ext cx="17830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0">
                <a:solidFill>
                  <a:srgbClr val="657386"/>
                </a:solidFill>
                <a:latin typeface="Microsoft YaHei"/>
              </a:rPr>
              <a:t>可放 1 张关键流程截图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10/15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logo黑透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6459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创新点说明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INNOVATION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23444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234440"/>
            <a:ext cx="73152" cy="1051560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1380744"/>
            <a:ext cx="438912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学习过程数据化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1746504"/>
            <a:ext cx="4389120" cy="46634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不是只做待办清单，而是记录任务、日志、番茄钟、日历与统计。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73152" cy="1051560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1" y="1380744"/>
            <a:ext cx="438912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AI 深度嵌入流程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746504"/>
            <a:ext cx="4389120" cy="46634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蓝心 AI 在任务创建、执行后日志、周报复盘与风险提醒中持续参与。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83464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834640"/>
            <a:ext cx="73152" cy="1051560"/>
          </a:xfrm>
          <a:prstGeom prst="rect">
            <a:avLst/>
          </a:prstGeom>
          <a:solidFill>
            <a:srgbClr val="00A882"/>
          </a:solidFill>
          <a:ln>
            <a:solidFill>
              <a:srgbClr val="00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2980944"/>
            <a:ext cx="438912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多模态降低成本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346704"/>
            <a:ext cx="4389120" cy="46634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支持图片理解、OCR、语音输入，让学习记录更轻量。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83464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834640"/>
            <a:ext cx="73152" cy="1051560"/>
          </a:xfrm>
          <a:prstGeom prst="rect">
            <a:avLst/>
          </a:prstGeom>
          <a:solidFill>
            <a:srgbClr val="FF9D00"/>
          </a:solidFill>
          <a:ln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1" y="2980944"/>
            <a:ext cx="438912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完整学习闭环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3346704"/>
            <a:ext cx="4389120" cy="46634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从任务执行到周报复盘再到下周建议，形成可持续改进。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443484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29000" y="4434840"/>
            <a:ext cx="73152" cy="1051560"/>
          </a:xfrm>
          <a:prstGeom prst="rect">
            <a:avLst/>
          </a:prstGeom>
          <a:solidFill>
            <a:srgbClr val="083B88"/>
          </a:solidFill>
          <a:ln>
            <a:solidFill>
              <a:srgbClr val="083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93592" y="4581144"/>
            <a:ext cx="438912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本地优先与隐私友好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3592" y="4946904"/>
            <a:ext cx="4389120" cy="46634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以本地 JSON 存储为主，密钥通过安全存储保存，兼顾轻量与安全。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384048"/>
          </a:xfrm>
          <a:prstGeom prst="roundRect">
            <a:avLst/>
          </a:prstGeom>
          <a:solidFill>
            <a:srgbClr val="083B88"/>
          </a:solidFill>
          <a:ln>
            <a:solidFill>
              <a:srgbClr val="083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907024"/>
            <a:ext cx="10058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1" dirty="0" err="1">
                <a:solidFill>
                  <a:srgbClr val="FFFFFF"/>
                </a:solidFill>
                <a:latin typeface="Microsoft YaHei"/>
              </a:rPr>
              <a:t>核心差异：AI</a:t>
            </a:r>
            <a:r>
              <a:rPr sz="950" b="1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950" b="1" dirty="0" err="1">
                <a:solidFill>
                  <a:srgbClr val="FFFFFF"/>
                </a:solidFill>
                <a:latin typeface="Microsoft YaHei"/>
              </a:rPr>
              <a:t>不是外挂，而是与大学生日常学习流程绑定的行动型助手</a:t>
            </a:r>
            <a:r>
              <a:rPr sz="950" b="1" dirty="0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00" b="0" dirty="0" err="1">
                <a:solidFill>
                  <a:srgbClr val="8A96A8"/>
                </a:solidFill>
                <a:latin typeface="Microsoft YaHei"/>
              </a:rPr>
              <a:t>StudyTrace</a:t>
            </a:r>
            <a:r>
              <a:rPr sz="700" b="0" dirty="0">
                <a:solidFill>
                  <a:srgbClr val="8A96A8"/>
                </a:solidFill>
                <a:latin typeface="Microsoft YaHei"/>
              </a:rPr>
              <a:t> </a:t>
            </a:r>
            <a:r>
              <a:rPr sz="700" b="0" dirty="0" err="1">
                <a:solidFill>
                  <a:srgbClr val="8A96A8"/>
                </a:solidFill>
                <a:latin typeface="Microsoft YaHei"/>
              </a:rPr>
              <a:t>学迹</a:t>
            </a:r>
            <a:r>
              <a:rPr sz="700" b="0" dirty="0">
                <a:solidFill>
                  <a:srgbClr val="8A96A8"/>
                </a:solidFill>
                <a:latin typeface="Microsoft YaHei"/>
              </a:rPr>
              <a:t> · 11/15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logo黑透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6459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技术实现与可行性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TECH STACK &amp; FEASIBILITY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97280" y="1325880"/>
            <a:ext cx="6583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80" y="1325880"/>
            <a:ext cx="109728" cy="65836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19" y="1463039"/>
            <a:ext cx="18288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前端应用层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481328"/>
            <a:ext cx="50292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0">
                <a:solidFill>
                  <a:srgbClr val="657386"/>
                </a:solidFill>
                <a:latin typeface="Microsoft YaHei"/>
              </a:rPr>
              <a:t>Flutter 3.x / Material Design 3 / Android · Windows · Web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89120" y="1984248"/>
            <a:ext cx="0" cy="301752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97280" y="2286000"/>
            <a:ext cx="6583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97280" y="2286000"/>
            <a:ext cx="109728" cy="658368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19" y="2423160"/>
            <a:ext cx="18288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状态与架构层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441448"/>
            <a:ext cx="50292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0">
                <a:solidFill>
                  <a:srgbClr val="657386"/>
                </a:solidFill>
                <a:latin typeface="Microsoft YaHei"/>
              </a:rPr>
              <a:t>MVVM / ChangeNotifier / 全局 AppDataController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89120" y="2944368"/>
            <a:ext cx="0" cy="301752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97280" y="3246120"/>
            <a:ext cx="6583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97280" y="3246120"/>
            <a:ext cx="109728" cy="658368"/>
          </a:xfrm>
          <a:prstGeom prst="rect">
            <a:avLst/>
          </a:prstGeom>
          <a:solidFill>
            <a:srgbClr val="00A882"/>
          </a:solidFill>
          <a:ln>
            <a:solidFill>
              <a:srgbClr val="00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17319" y="3383279"/>
            <a:ext cx="18288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本地数据层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401568"/>
            <a:ext cx="50292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0">
                <a:solidFill>
                  <a:srgbClr val="657386"/>
                </a:solidFill>
                <a:latin typeface="Microsoft YaHei"/>
              </a:rPr>
              <a:t>SharedPreferences 本地 JSON + flutter_secure_storage 密钥保存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89120" y="3904487"/>
            <a:ext cx="0" cy="301753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97280" y="4206240"/>
            <a:ext cx="6583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97280" y="4206240"/>
            <a:ext cx="109728" cy="658368"/>
          </a:xfrm>
          <a:prstGeom prst="rect">
            <a:avLst/>
          </a:prstGeom>
          <a:solidFill>
            <a:srgbClr val="FF9D00"/>
          </a:solidFill>
          <a:ln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17319" y="4343400"/>
            <a:ext cx="18288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AI 服务层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361688"/>
            <a:ext cx="50292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0">
                <a:solidFill>
                  <a:srgbClr val="657386"/>
                </a:solidFill>
                <a:latin typeface="Microsoft YaHei"/>
              </a:rPr>
              <a:t>蓝心 Chat / Vision / OCR 为主，DeepSeek 可选自定义接入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1325880"/>
            <a:ext cx="2743200" cy="3977639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C9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49640" y="1645920"/>
            <a:ext cx="21031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600" b="1">
                <a:solidFill>
                  <a:srgbClr val="083B88"/>
                </a:solidFill>
                <a:latin typeface="Microsoft YaHei"/>
              </a:rPr>
              <a:t>完成度说明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240280"/>
            <a:ext cx="2057400" cy="2468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 b="0">
                <a:solidFill>
                  <a:srgbClr val="1E2A3A"/>
                </a:solidFill>
                <a:latin typeface="Microsoft YaHei"/>
              </a:rPr>
              <a:t>• 已有可运行 App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 b="0">
                <a:solidFill>
                  <a:srgbClr val="1E2A3A"/>
                </a:solidFill>
                <a:latin typeface="Microsoft YaHei"/>
              </a:rPr>
              <a:t>• 不只是概念原型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 b="0">
                <a:solidFill>
                  <a:srgbClr val="1E2A3A"/>
                </a:solidFill>
                <a:latin typeface="Microsoft YaHei"/>
              </a:rPr>
              <a:t>• 核心功能已形成闭环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 b="0">
                <a:solidFill>
                  <a:srgbClr val="1E2A3A"/>
                </a:solidFill>
                <a:latin typeface="Microsoft YaHei"/>
              </a:rPr>
              <a:t>• Web 版已部署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 b="0">
                <a:solidFill>
                  <a:srgbClr val="1E2A3A"/>
                </a:solidFill>
                <a:latin typeface="Microsoft YaHei"/>
              </a:rPr>
              <a:t>• 后续可扩展云同步与小组功能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12/15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logo黑透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6459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应用价值与市场前景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VALUE &amp; FUTURE POTENTIAL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31546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325880"/>
            <a:ext cx="3154680" cy="56692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517904"/>
            <a:ext cx="278892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对学生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40280"/>
            <a:ext cx="2560320" cy="2743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降低任务遗忘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提升学习连续性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帮助复盘与计划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让进步被看见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325880"/>
            <a:ext cx="31546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1325880"/>
            <a:ext cx="3154680" cy="566928"/>
          </a:xfrm>
          <a:prstGeom prst="rect">
            <a:avLst/>
          </a:prstGeom>
          <a:solidFill>
            <a:srgbClr val="00A882"/>
          </a:solidFill>
          <a:ln>
            <a:solidFill>
              <a:srgbClr val="00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1517904"/>
            <a:ext cx="278892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对高校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240280"/>
            <a:ext cx="2560320" cy="2743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课程项目制学习工具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竞赛训练过程管理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导师制学习追踪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学习数据沉淀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325880"/>
            <a:ext cx="31546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66760" y="1325880"/>
            <a:ext cx="3154680" cy="566928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1517904"/>
            <a:ext cx="278892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后续拓展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240280"/>
            <a:ext cx="2560320" cy="2743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云端同步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学习小组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排行榜激励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多设备同步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导出学习报告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97880"/>
            <a:ext cx="103327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050" b="1">
                <a:solidFill>
                  <a:srgbClr val="083B88"/>
                </a:solidFill>
                <a:latin typeface="Microsoft YaHei"/>
              </a:rPr>
              <a:t>落地逻辑：先以个人学习管理工具切入，再向课程、项目、竞赛等学习过程管理场景延伸。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13/15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logo黑透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6459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竞品对比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COMPETITIVE LANDSCAPE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2148840" cy="502920"/>
          </a:xfrm>
          <a:prstGeom prst="rect">
            <a:avLst/>
          </a:prstGeom>
          <a:solidFill>
            <a:srgbClr val="083B8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399032"/>
            <a:ext cx="205740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234440"/>
            <a:ext cx="1600200" cy="502920"/>
          </a:xfrm>
          <a:prstGeom prst="rect">
            <a:avLst/>
          </a:prstGeom>
          <a:solidFill>
            <a:srgbClr val="083B8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1399032"/>
            <a:ext cx="150876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普通 Todo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1600200" cy="502920"/>
          </a:xfrm>
          <a:prstGeom prst="rect">
            <a:avLst/>
          </a:prstGeom>
          <a:solidFill>
            <a:srgbClr val="083B8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399032"/>
            <a:ext cx="150876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笔记 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234440"/>
            <a:ext cx="1600200" cy="502920"/>
          </a:xfrm>
          <a:prstGeom prst="rect">
            <a:avLst/>
          </a:prstGeom>
          <a:solidFill>
            <a:srgbClr val="083B8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89320" y="1399032"/>
            <a:ext cx="150876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AI 聊天工具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234440"/>
            <a:ext cx="1600200" cy="502920"/>
          </a:xfrm>
          <a:prstGeom prst="rect">
            <a:avLst/>
          </a:prstGeom>
          <a:solidFill>
            <a:srgbClr val="083B8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1399032"/>
            <a:ext cx="150876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学习打卡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234440"/>
            <a:ext cx="2103120" cy="502920"/>
          </a:xfrm>
          <a:prstGeom prst="rect">
            <a:avLst/>
          </a:prstGeom>
          <a:solidFill>
            <a:srgbClr val="0B5C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20" y="1399032"/>
            <a:ext cx="2011679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StudyTrace 学迹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1737360"/>
            <a:ext cx="21488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1920240"/>
            <a:ext cx="205740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30" b="1">
                <a:solidFill>
                  <a:srgbClr val="1E2A3A"/>
                </a:solidFill>
                <a:latin typeface="Microsoft YaHei"/>
              </a:rPr>
              <a:t>课程学习聚焦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1737360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88920" y="1920240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1737360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0" y="1920240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737360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89320" y="1920240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1737360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0" y="1920240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1737360"/>
            <a:ext cx="2103120" cy="566928"/>
          </a:xfrm>
          <a:prstGeom prst="rect">
            <a:avLst/>
          </a:prstGeom>
          <a:solidFill>
            <a:srgbClr val="F3F8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89720" y="1920240"/>
            <a:ext cx="2011679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1">
                <a:solidFill>
                  <a:srgbClr val="0B5CFF"/>
                </a:solidFill>
                <a:latin typeface="Microsoft YaHe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2304288"/>
            <a:ext cx="214884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2487168"/>
            <a:ext cx="205740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30" b="1">
                <a:solidFill>
                  <a:srgbClr val="1E2A3A"/>
                </a:solidFill>
                <a:latin typeface="Microsoft YaHei"/>
              </a:rPr>
              <a:t>任务/日志/日历/周报一体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2304288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88920" y="2487168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2304288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0" y="2487168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304288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89320" y="2487168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2304288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89520" y="2487168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2304288"/>
            <a:ext cx="2103120" cy="566928"/>
          </a:xfrm>
          <a:prstGeom prst="rect">
            <a:avLst/>
          </a:prstGeom>
          <a:solidFill>
            <a:srgbClr val="F3F8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89720" y="2487168"/>
            <a:ext cx="2011679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1">
                <a:solidFill>
                  <a:srgbClr val="0B5CFF"/>
                </a:solidFill>
                <a:latin typeface="Microsoft YaHe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2871216"/>
            <a:ext cx="21488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3054096"/>
            <a:ext cx="205740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30" b="1">
                <a:solidFill>
                  <a:srgbClr val="1E2A3A"/>
                </a:solidFill>
                <a:latin typeface="Microsoft YaHei"/>
              </a:rPr>
              <a:t>AI 贯穿学习流程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871216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88920" y="3054096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43400" y="2871216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89120" y="3054096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2871216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89320" y="3054096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43800" y="2871216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589520" y="3054096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2871216"/>
            <a:ext cx="2103120" cy="566928"/>
          </a:xfrm>
          <a:prstGeom prst="rect">
            <a:avLst/>
          </a:prstGeom>
          <a:solidFill>
            <a:srgbClr val="F3F8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89720" y="3054096"/>
            <a:ext cx="2011679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1">
                <a:solidFill>
                  <a:srgbClr val="0B5CFF"/>
                </a:solidFill>
                <a:latin typeface="Microsoft YaHei"/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" y="3438144"/>
            <a:ext cx="214884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" y="3621024"/>
            <a:ext cx="205740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30" b="1">
                <a:solidFill>
                  <a:srgbClr val="1E2A3A"/>
                </a:solidFill>
                <a:latin typeface="Microsoft YaHei"/>
              </a:rPr>
              <a:t>多模态输入与日志生成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0" y="3438144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88920" y="3621024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43400" y="3438144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389120" y="3621024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0" y="3438144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89320" y="3621024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43800" y="3438144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89520" y="3621024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0" y="3438144"/>
            <a:ext cx="2103120" cy="566928"/>
          </a:xfrm>
          <a:prstGeom prst="rect">
            <a:avLst/>
          </a:prstGeom>
          <a:solidFill>
            <a:srgbClr val="F3F8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89720" y="3621024"/>
            <a:ext cx="2011679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1">
                <a:solidFill>
                  <a:srgbClr val="0B5CFF"/>
                </a:solidFill>
                <a:latin typeface="Microsoft YaHe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" y="4005072"/>
            <a:ext cx="21488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0080" y="4187952"/>
            <a:ext cx="205740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30" b="1">
                <a:solidFill>
                  <a:srgbClr val="1E2A3A"/>
                </a:solidFill>
                <a:latin typeface="Microsoft YaHei"/>
              </a:rPr>
              <a:t>手机端学习闭环完整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0" y="4005072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88920" y="4187952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43400" y="4005072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389120" y="4187952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0" y="4005072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989320" y="4187952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43800" y="4005072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589520" y="4187952"/>
            <a:ext cx="1508760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44000" y="4005072"/>
            <a:ext cx="2103120" cy="566928"/>
          </a:xfrm>
          <a:prstGeom prst="rect">
            <a:avLst/>
          </a:prstGeom>
          <a:solidFill>
            <a:srgbClr val="F3F8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189720" y="4187952"/>
            <a:ext cx="2011679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1">
                <a:solidFill>
                  <a:srgbClr val="0B5CFF"/>
                </a:solidFill>
                <a:latin typeface="Microsoft YaHei"/>
              </a:rPr>
              <a:t>✓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5800" y="4983480"/>
            <a:ext cx="10789920" cy="86868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85800" y="4983480"/>
            <a:ext cx="73152" cy="868680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50392" y="5129784"/>
            <a:ext cx="1046988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结论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0392" y="5495544"/>
            <a:ext cx="10469880" cy="28346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0">
                <a:solidFill>
                  <a:srgbClr val="657386"/>
                </a:solidFill>
                <a:latin typeface="Microsoft YaHei"/>
              </a:rPr>
              <a:t>StudyTrace 更聚焦大学生课程学习，把任务、日志、日历、周报与 AI 学习助手整合为一个连续闭环。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14/15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7" name="Picture 86" descr="logo黑透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6459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D4E"/>
          </a:solidFill>
          <a:ln>
            <a:solidFill>
              <a:srgbClr val="041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4AB8"/>
          </a:solidFill>
          <a:ln>
            <a:solidFill>
              <a:srgbClr val="0A4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2834640" cy="6858000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7406640" y="0"/>
            <a:ext cx="4846320" cy="3840480"/>
          </a:xfrm>
          <a:prstGeom prst="rtTriangle">
            <a:avLst/>
          </a:prstGeom>
          <a:solidFill>
            <a:srgbClr val="0D5DFF"/>
          </a:solidFill>
          <a:ln>
            <a:solidFill>
              <a:srgbClr val="0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 rot="5400000">
            <a:off x="8961120" y="1828800"/>
            <a:ext cx="4114800" cy="3566160"/>
          </a:xfrm>
          <a:prstGeom prst="triangle">
            <a:avLst/>
          </a:prstGeom>
          <a:solidFill>
            <a:srgbClr val="006DFF"/>
          </a:solidFill>
          <a:ln>
            <a:solidFill>
              <a:srgbClr val="00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>
                <a:solidFill>
                  <a:srgbClr val="7FB2FF"/>
                </a:solidFill>
                <a:latin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1" dirty="0" err="1">
                <a:solidFill>
                  <a:srgbClr val="FFFFFF"/>
                </a:solidFill>
                <a:latin typeface="Microsoft YaHei"/>
              </a:rPr>
              <a:t>团队分工与总结</a:t>
            </a:r>
            <a:endParaRPr sz="20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0">
                <a:solidFill>
                  <a:srgbClr val="B8D4FF"/>
                </a:solidFill>
                <a:latin typeface="Microsoft YaHei"/>
              </a:rPr>
              <a:t>TEAM &amp; FINAL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7FB2FF"/>
          </a:solidFill>
          <a:ln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" y="1417320"/>
            <a:ext cx="2331720" cy="914400"/>
          </a:xfrm>
          <a:prstGeom prst="roundRect">
            <a:avLst/>
          </a:prstGeom>
          <a:solidFill>
            <a:srgbClr val="0B5CFF"/>
          </a:solidFill>
          <a:ln w="15240"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764792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产品策划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417320"/>
            <a:ext cx="2331720" cy="914400"/>
          </a:xfrm>
          <a:prstGeom prst="roundRect">
            <a:avLst/>
          </a:prstGeom>
          <a:solidFill>
            <a:srgbClr val="0B5CFF"/>
          </a:solidFill>
          <a:ln w="15240"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20" y="1764792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UI / 交互设计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417320"/>
            <a:ext cx="2331720" cy="914400"/>
          </a:xfrm>
          <a:prstGeom prst="roundRect">
            <a:avLst/>
          </a:prstGeom>
          <a:solidFill>
            <a:srgbClr val="0B5CFF"/>
          </a:solidFill>
          <a:ln w="15240"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764792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Microsoft YaHei"/>
              </a:rPr>
              <a:t>Flutter </a:t>
            </a:r>
            <a:r>
              <a:rPr sz="1300" b="1" dirty="0" err="1">
                <a:solidFill>
                  <a:srgbClr val="FFFFFF"/>
                </a:solidFill>
                <a:latin typeface="Microsoft YaHei"/>
              </a:rPr>
              <a:t>客户端开发</a:t>
            </a:r>
            <a:endParaRPr sz="13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3999" y="1417320"/>
            <a:ext cx="2331720" cy="914400"/>
          </a:xfrm>
          <a:prstGeom prst="roundRect">
            <a:avLst/>
          </a:prstGeom>
          <a:solidFill>
            <a:srgbClr val="0B5CFF"/>
          </a:solidFill>
          <a:ln w="15240"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59" y="1764792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大模型能力接入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246120"/>
            <a:ext cx="713232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让每一次学习都留下轨迹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977639"/>
            <a:ext cx="7772400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0">
                <a:solidFill>
                  <a:srgbClr val="D8E9FF"/>
                </a:solidFill>
                <a:latin typeface="Microsoft YaHei"/>
              </a:rPr>
              <a:t>让 AI 帮学生看见自己的进步，并推动下一次行动。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5074920"/>
            <a:ext cx="1828800" cy="438912"/>
          </a:xfrm>
          <a:prstGeom prst="roundRect">
            <a:avLst/>
          </a:prstGeom>
          <a:solidFill>
            <a:srgbClr val="0B5CFF"/>
          </a:solidFill>
          <a:ln w="12700"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230368"/>
            <a:ext cx="1645920" cy="1097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Microsoft YaHei"/>
              </a:rPr>
              <a:t>记录真实过程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5074920"/>
            <a:ext cx="1828800" cy="438912"/>
          </a:xfrm>
          <a:prstGeom prst="roundRect">
            <a:avLst/>
          </a:prstGeom>
          <a:solidFill>
            <a:srgbClr val="1E7BFF"/>
          </a:solidFill>
          <a:ln w="12700"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66160" y="5230368"/>
            <a:ext cx="1645920" cy="1097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Microsoft YaHei"/>
              </a:rPr>
              <a:t>形成学习数据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074920"/>
            <a:ext cx="1828800" cy="438912"/>
          </a:xfrm>
          <a:prstGeom prst="roundRect">
            <a:avLst/>
          </a:prstGeom>
          <a:solidFill>
            <a:srgbClr val="0B5CFF"/>
          </a:solidFill>
          <a:ln w="12700"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35040" y="5230368"/>
            <a:ext cx="1645920" cy="1097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Microsoft YaHei"/>
              </a:rPr>
              <a:t>生成复盘洞察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5074920"/>
            <a:ext cx="1828800" cy="438912"/>
          </a:xfrm>
          <a:prstGeom prst="roundRect">
            <a:avLst/>
          </a:prstGeom>
          <a:solidFill>
            <a:srgbClr val="1E7BFF"/>
          </a:solidFill>
          <a:ln w="12700"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5230368"/>
            <a:ext cx="1645920" cy="1097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Microsoft YaHei"/>
              </a:rPr>
              <a:t>推动下一步行动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6172200"/>
            <a:ext cx="228600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1800" b="1">
                <a:solidFill>
                  <a:srgbClr val="B8D4FF"/>
                </a:solidFill>
                <a:latin typeface="Microsoft YaHei"/>
              </a:rPr>
              <a:t>THANK 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00" b="0" dirty="0" err="1">
                <a:solidFill>
                  <a:srgbClr val="B8D4FF"/>
                </a:solidFill>
                <a:latin typeface="Microsoft YaHei"/>
              </a:rPr>
              <a:t>StudyTrace</a:t>
            </a:r>
            <a:r>
              <a:rPr sz="700" b="0" dirty="0">
                <a:solidFill>
                  <a:srgbClr val="B8D4FF"/>
                </a:solidFill>
                <a:latin typeface="Microsoft YaHei"/>
              </a:rPr>
              <a:t> </a:t>
            </a:r>
            <a:r>
              <a:rPr sz="700" b="0" dirty="0" err="1">
                <a:solidFill>
                  <a:srgbClr val="B8D4FF"/>
                </a:solidFill>
                <a:latin typeface="Microsoft YaHei"/>
              </a:rPr>
              <a:t>学迹</a:t>
            </a:r>
            <a:r>
              <a:rPr sz="700" b="0" dirty="0">
                <a:solidFill>
                  <a:srgbClr val="B8D4FF"/>
                </a:solidFill>
                <a:latin typeface="Microsoft YaHei"/>
              </a:rPr>
              <a:t> · 15/15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20" descr="logo白透明.png">
            <a:extLst>
              <a:ext uri="{FF2B5EF4-FFF2-40B4-BE49-F238E27FC236}">
                <a16:creationId xmlns:a16="http://schemas.microsoft.com/office/drawing/2014/main" id="{69CAFE8C-E73F-40D3-C1B1-7A769DF60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087" y="60195"/>
            <a:ext cx="629593" cy="6171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702</Words>
  <Application>Microsoft Office PowerPoint</Application>
  <PresentationFormat>宽屏</PresentationFormat>
  <Paragraphs>299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知知 江</cp:lastModifiedBy>
  <cp:revision>5</cp:revision>
  <dcterms:created xsi:type="dcterms:W3CDTF">2013-01-27T09:14:16Z</dcterms:created>
  <dcterms:modified xsi:type="dcterms:W3CDTF">2026-05-05T18:43:53Z</dcterms:modified>
  <cp:category/>
</cp:coreProperties>
</file>